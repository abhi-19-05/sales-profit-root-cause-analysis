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Shipping % of Revenue</c:v>
                </c:pt>
              </c:strCache>
            </c:strRef>
          </c:tx>
          <c:spPr>
            <a:solidFill>
              <a:srgbClr val="D9614F"/>
            </a:solidFill>
            <a:effectLst/>
          </c:spPr>
          <c:invertIfNegative val="0"/>
          <c:dLbls>
            <c:numFmt formatCode="#,##0" sourceLinked="0"/>
            <c:txPr>
              <a:bodyPr/>
              <a:lstStyle/>
              <a:p>
                <a:pPr>
                  <a:defRPr b="0" i="0" strike="noStrike" sz="1100" u="none">
                    <a:solidFill>
                      <a:srgbClr val="1E2233"/>
                    </a:solidFill>
                    <a:latin typeface="Arial"/>
                  </a:defRPr>
                </a:pPr>
              </a:p>
            </c:txPr>
            <c:showLegendKey val="0"/>
            <c:showVal val="1"/>
            <c:showCatName val="0"/>
            <c:showSerName val="0"/>
            <c:showPercent val="0"/>
            <c:showBubbleSize val="0"/>
            <c:showLeaderLines val="0"/>
          </c:dLbls>
          <c:cat>
            <c:multiLvlStrRef>
              <c:f>Sheet1!$A$2:$A$6</c:f>
              <c:multiLvlStrCache>
                <c:ptCount val="5"/>
                <c:lvl>
                  <c:pt idx="0">
                    <c:v>Home Comfort 2</c:v>
                  </c:pt>
                  <c:pt idx="1">
                    <c:v>Flowers</c:v>
                  </c:pt>
                  <c:pt idx="2">
                    <c:v>Furniture, Mattress
&amp; Upholstery</c:v>
                  </c:pt>
                  <c:pt idx="3">
                    <c:v>Christmas Supplies</c:v>
                  </c:pt>
                  <c:pt idx="4">
                    <c:v>Diapers &amp; Hygiene</c:v>
                  </c:pt>
                </c:lvl>
              </c:multiLvlStrCache>
            </c:multiLvlStrRef>
          </c:cat>
          <c:val>
            <c:numRef>
              <c:f>Sheet1!$B$2:$B$6</c:f>
              <c:numCache>
                <c:formatCode>General</c:formatCode>
                <c:ptCount val="5"/>
                <c:pt idx="0">
                  <c:v>53.97</c:v>
                </c:pt>
                <c:pt idx="1">
                  <c:v>44.04</c:v>
                </c:pt>
                <c:pt idx="2">
                  <c:v>36.58</c:v>
                </c:pt>
                <c:pt idx="3">
                  <c:v>36.52</c:v>
                </c:pt>
                <c:pt idx="4">
                  <c:v>36.34</c:v>
                </c:pt>
              </c:numCache>
            </c:numRef>
          </c:val>
        </c:ser>
        <c:dLbls>
          <c:numFmt formatCode="#,##0" sourceLinked="0"/>
          <c:txPr>
            <a:bodyPr/>
            <a:lstStyle/>
            <a:p>
              <a:pPr>
                <a:defRPr b="0" i="0" strike="noStrike" sz="1100" u="none">
                  <a:solidFill>
                    <a:srgbClr val="1E22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B6478"/>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6E9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 of category revenue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4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whole deck in one sentence: revenue at Olist has grown steadily, but profit margin (18.45%) is not keeping pace — this presentation identifies why, ranks the causes by business impact, and closes with concrete recommendations. Mention this is a portfolio-grade root cause analysis built on the public Olist Brazilian e-commerce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headline numbers, then the synthesis paragraph. The key message to land here: because product cost is modeled as a constant 65% of revenue, shipping cost is mathematically the only lever that moves margin in this dataset — so it deserves top billing before we even get to root causes. Preview the 'bottom line' — this is the thesis the rest of the deck defends.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the way a consultant would: management sees growth on the top line but flat-to-thin margin, and doesn't yet know where the leak is. The objective slide reframes this as a diagnostic question the rest of the deck answers, not just a reporting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audience in scale: ~112.6K line items, ~98.7K orders, ~93.4K customers, built by joining 7 Olist source tables. The key point for an interviewer: this granularity is what allows category- and state-level root causes later in the deck, not just an aggregate P&amp;L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tracks: hygiene (dedupe, nulls, dtypes) on the left, and derived business metrics on the right. Flag early — without dwelling — that Product Cost is an assumption (flat 65% of revenue), since it resurfaces as the central caveat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five KPI cards, then the formula panel. This slide is the analytical hinge of the whole deck — make sure the audience leaves understanding that under this cost model, shipping cost share IS the margin story, not just one factor among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line categories skew toward everyday, repeat-purchase goods (beauty, gifts, home, sports, electronics accessories) — a healthy, diversified revenue base. São Paulo dominates state-level revenue, which foreshadows the shipping-cost story: SP is close to seller/fulfillment hubs, so its shipping burden is comparatively low — setting up the contrast with the high-shipping remote states on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list directly against the top-revenue list on the prior slide — none of the lowest-profit categories overlap with the top-revenue ones. That's the crux of the profit-pressure problem: growth is happening in the store overall, but a meaningful slice of that growth sits in categories that lose money-efficiency to shipping. This sets up the shipping-cost slide as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evidence-based findings here: (1) five specific categories carry a shipping cost equal to 36-54% of their own revenue — far above the ~16.6% blended average — and (2) at the state level, shipping cost share and profit margin move almost perfectly opposite each other (r = -0.994). Note in the notes, not necessarily out loud unless asked, that this correlation is partly mechanical given the fixed-cost-ratio assumption — flagged explicitly on the Limitations slide. The six highest-burden states are all geographically remote from the São Paulo hub, pointing to a distance/logistics-density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threads: customer segmentation (framework only on this slide — pull exact New vs Repeat profit/AOV numbers from the live Power BI dashboard when presenting) and cancellations (flagged as a pure-leakage channel worth precise sizing). If asked for exact repeat-customer profit lift, defer to the dashboard rather than guessing a number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top to bottom, by business impact. Cause 1 is a modeling fact, not a business lever — mention it briefly then move past it. Causes 2-4 are the real, evidence-based, actionable findings and deserve the most airtime. Cause 5 is flagged honestly as directionally real but not yet sized — good opportunity to show analytical honesty if asked in an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recommendations, ordered to roughly match the root-cause ranking. Frame 01-02 as immediate/operational, 03-04 as analytical follow-ups that de-risk the whole analysis, and 05-06 as medium-term strategic shifts. Recommend anchoring on 01 and 02 first in any real prioritization discussion since they map to the highest-confidence, highest-impact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analytical maturity in an interview. Be direct: because product cost is a constant proportion of revenue, Profit Margin algebraically reduces to 35% minus shipping share — so the -0.994 correlation is partly a product of the modeling choice, not a fully independent empirical discovery. That doesn't invalidate the analysis; it means the categorical/regional pattern (which categories and states carry the burden) is trustworthy, while the precise magnitude of profit and margin needs real COGS data to confirm before being used in pricing or budget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optimism grounded in evidence: the growth engine works, and the profit fix is narrow and executable, not a fundamental business-model problem. End with the next-steps list as the concrete call to action — especially replacing the cost assumption, since every other number in this deck inherits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D"/>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E2761"/>
          </a:solidFill>
          <a:ln/>
        </p:spPr>
      </p:sp>
      <p:sp>
        <p:nvSpPr>
          <p:cNvPr id="3" name="Shape 1"/>
          <p:cNvSpPr/>
          <p:nvPr/>
        </p:nvSpPr>
        <p:spPr>
          <a:xfrm>
            <a:off x="10332720" y="-731520"/>
            <a:ext cx="2926080" cy="2926080"/>
          </a:xfrm>
          <a:prstGeom prst="ellipse">
            <a:avLst/>
          </a:prstGeom>
          <a:solidFill>
            <a:srgbClr val="D9614F"/>
          </a:solidFill>
          <a:ln/>
        </p:spPr>
      </p:sp>
      <p:sp>
        <p:nvSpPr>
          <p:cNvPr id="4" name="Text 2"/>
          <p:cNvSpPr/>
          <p:nvPr/>
        </p:nvSpPr>
        <p:spPr>
          <a:xfrm>
            <a:off x="640080" y="1417320"/>
            <a:ext cx="8229600" cy="365760"/>
          </a:xfrm>
          <a:prstGeom prst="rect">
            <a:avLst/>
          </a:prstGeom>
          <a:noFill/>
          <a:ln/>
        </p:spPr>
        <p:txBody>
          <a:bodyPr wrap="square" rtlCol="0" anchor="ctr"/>
          <a:lstStyle/>
          <a:p>
            <a:pPr indent="0" marL="0">
              <a:buNone/>
            </a:pPr>
            <a:r>
              <a:rPr lang="en-US" sz="1300" spc="200" kern="0" dirty="0">
                <a:solidFill>
                  <a:srgbClr val="CADCFC"/>
                </a:solidFill>
                <a:latin typeface="Calibri" pitchFamily="34" charset="0"/>
                <a:ea typeface="Calibri" pitchFamily="34" charset="-122"/>
                <a:cs typeface="Calibri" pitchFamily="34" charset="-120"/>
              </a:rPr>
              <a:t>ROOT CAUSE ANALYSIS  ·  E-COMMERCE PROFITABILITY</a:t>
            </a:r>
            <a:endParaRPr lang="en-US" sz="1300" dirty="0"/>
          </a:p>
        </p:txBody>
      </p:sp>
      <p:sp>
        <p:nvSpPr>
          <p:cNvPr id="5" name="Text 3"/>
          <p:cNvSpPr/>
          <p:nvPr/>
        </p:nvSpPr>
        <p:spPr>
          <a:xfrm>
            <a:off x="594360" y="1874520"/>
            <a:ext cx="9326880" cy="1920240"/>
          </a:xfrm>
          <a:prstGeom prst="rect">
            <a:avLst/>
          </a:prstGeom>
          <a:noFill/>
          <a:ln/>
        </p:spPr>
        <p:txBody>
          <a:bodyPr wrap="square"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Sales Are Growing,</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Profit Is Under Pressure</a:t>
            </a:r>
            <a:endParaRPr lang="en-US" sz="4200" dirty="0"/>
          </a:p>
        </p:txBody>
      </p:sp>
      <p:sp>
        <p:nvSpPr>
          <p:cNvPr id="6" name="Text 4"/>
          <p:cNvSpPr/>
          <p:nvPr/>
        </p:nvSpPr>
        <p:spPr>
          <a:xfrm>
            <a:off x="640080" y="3794760"/>
            <a:ext cx="8046720" cy="64008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data-driven investigation into why margin isn't scaling with revenue — Brazilian E-commerce (Olist) Public Dataset</a:t>
            </a:r>
            <a:endParaRPr lang="en-US" sz="1500" dirty="0"/>
          </a:p>
        </p:txBody>
      </p:sp>
      <p:sp>
        <p:nvSpPr>
          <p:cNvPr id="7" name="Text 5"/>
          <p:cNvSpPr/>
          <p:nvPr/>
        </p:nvSpPr>
        <p:spPr>
          <a:xfrm>
            <a:off x="640080" y="4892040"/>
            <a:ext cx="2560320" cy="502920"/>
          </a:xfrm>
          <a:prstGeom prst="rect">
            <a:avLst/>
          </a:prstGeom>
          <a:noFill/>
          <a:ln/>
        </p:spPr>
        <p:txBody>
          <a:bodyPr wrap="square" rtlCol="0" anchor="ctr"/>
          <a:lstStyle/>
          <a:p>
            <a:pPr indent="0" marL="0">
              <a:buNone/>
            </a:pPr>
            <a:r>
              <a:rPr lang="en-US" sz="2600" b="1" dirty="0">
                <a:solidFill>
                  <a:srgbClr val="D9614F"/>
                </a:solidFill>
                <a:latin typeface="Cambria" pitchFamily="34" charset="0"/>
                <a:ea typeface="Cambria" pitchFamily="34" charset="-122"/>
                <a:cs typeface="Cambria" pitchFamily="34" charset="-120"/>
              </a:rPr>
              <a:t>R$ 13.2M</a:t>
            </a:r>
            <a:endParaRPr lang="en-US" sz="2600" dirty="0"/>
          </a:p>
        </p:txBody>
      </p:sp>
      <p:sp>
        <p:nvSpPr>
          <p:cNvPr id="8" name="Text 6"/>
          <p:cNvSpPr/>
          <p:nvPr/>
        </p:nvSpPr>
        <p:spPr>
          <a:xfrm>
            <a:off x="640080" y="5394960"/>
            <a:ext cx="2560320" cy="320040"/>
          </a:xfrm>
          <a:prstGeom prst="rect">
            <a:avLst/>
          </a:prstGeom>
          <a:noFill/>
          <a:ln/>
        </p:spPr>
        <p:txBody>
          <a:bodyPr wrap="square" rtlCol="0" anchor="ctr"/>
          <a:lstStyle/>
          <a:p>
            <a:pPr indent="0" marL="0">
              <a:buNone/>
            </a:pPr>
            <a:r>
              <a:rPr lang="en-US" sz="1050" spc="100" kern="0" dirty="0">
                <a:solidFill>
                  <a:srgbClr val="CADCFC"/>
                </a:solidFill>
                <a:latin typeface="Calibri" pitchFamily="34" charset="0"/>
                <a:ea typeface="Calibri" pitchFamily="34" charset="-122"/>
                <a:cs typeface="Calibri" pitchFamily="34" charset="-120"/>
              </a:rPr>
              <a:t>REVENUE</a:t>
            </a:r>
            <a:endParaRPr lang="en-US" sz="1050" dirty="0"/>
          </a:p>
        </p:txBody>
      </p:sp>
      <p:sp>
        <p:nvSpPr>
          <p:cNvPr id="9" name="Text 7"/>
          <p:cNvSpPr/>
          <p:nvPr/>
        </p:nvSpPr>
        <p:spPr>
          <a:xfrm>
            <a:off x="3383280" y="4892040"/>
            <a:ext cx="2560320" cy="502920"/>
          </a:xfrm>
          <a:prstGeom prst="rect">
            <a:avLst/>
          </a:prstGeom>
          <a:noFill/>
          <a:ln/>
        </p:spPr>
        <p:txBody>
          <a:bodyPr wrap="square" rtlCol="0" anchor="ctr"/>
          <a:lstStyle/>
          <a:p>
            <a:pPr indent="0" marL="0">
              <a:buNone/>
            </a:pPr>
            <a:r>
              <a:rPr lang="en-US" sz="2600" b="1" dirty="0">
                <a:solidFill>
                  <a:srgbClr val="D9614F"/>
                </a:solidFill>
                <a:latin typeface="Cambria" pitchFamily="34" charset="0"/>
                <a:ea typeface="Cambria" pitchFamily="34" charset="-122"/>
                <a:cs typeface="Cambria" pitchFamily="34" charset="-120"/>
              </a:rPr>
              <a:t>18.45%</a:t>
            </a:r>
            <a:endParaRPr lang="en-US" sz="2600" dirty="0"/>
          </a:p>
        </p:txBody>
      </p:sp>
      <p:sp>
        <p:nvSpPr>
          <p:cNvPr id="10" name="Text 8"/>
          <p:cNvSpPr/>
          <p:nvPr/>
        </p:nvSpPr>
        <p:spPr>
          <a:xfrm>
            <a:off x="3383280" y="5394960"/>
            <a:ext cx="2560320" cy="320040"/>
          </a:xfrm>
          <a:prstGeom prst="rect">
            <a:avLst/>
          </a:prstGeom>
          <a:noFill/>
          <a:ln/>
        </p:spPr>
        <p:txBody>
          <a:bodyPr wrap="square" rtlCol="0" anchor="ctr"/>
          <a:lstStyle/>
          <a:p>
            <a:pPr indent="0" marL="0">
              <a:buNone/>
            </a:pPr>
            <a:r>
              <a:rPr lang="en-US" sz="1050" spc="100" kern="0" dirty="0">
                <a:solidFill>
                  <a:srgbClr val="CADCFC"/>
                </a:solidFill>
                <a:latin typeface="Calibri" pitchFamily="34" charset="0"/>
                <a:ea typeface="Calibri" pitchFamily="34" charset="-122"/>
                <a:cs typeface="Calibri" pitchFamily="34" charset="-120"/>
              </a:rPr>
              <a:t>PROFIT MARGIN</a:t>
            </a:r>
            <a:endParaRPr lang="en-US" sz="1050" dirty="0"/>
          </a:p>
        </p:txBody>
      </p:sp>
      <p:sp>
        <p:nvSpPr>
          <p:cNvPr id="11" name="Text 9"/>
          <p:cNvSpPr/>
          <p:nvPr/>
        </p:nvSpPr>
        <p:spPr>
          <a:xfrm>
            <a:off x="6126480" y="4892040"/>
            <a:ext cx="2560320" cy="502920"/>
          </a:xfrm>
          <a:prstGeom prst="rect">
            <a:avLst/>
          </a:prstGeom>
          <a:noFill/>
          <a:ln/>
        </p:spPr>
        <p:txBody>
          <a:bodyPr wrap="square" rtlCol="0" anchor="ctr"/>
          <a:lstStyle/>
          <a:p>
            <a:pPr indent="0" marL="0">
              <a:buNone/>
            </a:pPr>
            <a:r>
              <a:rPr lang="en-US" sz="2600" b="1" dirty="0">
                <a:solidFill>
                  <a:srgbClr val="D9614F"/>
                </a:solidFill>
                <a:latin typeface="Cambria" pitchFamily="34" charset="0"/>
                <a:ea typeface="Cambria" pitchFamily="34" charset="-122"/>
                <a:cs typeface="Cambria" pitchFamily="34" charset="-120"/>
              </a:rPr>
              <a:t>112,650</a:t>
            </a:r>
            <a:endParaRPr lang="en-US" sz="2600" dirty="0"/>
          </a:p>
        </p:txBody>
      </p:sp>
      <p:sp>
        <p:nvSpPr>
          <p:cNvPr id="12" name="Text 10"/>
          <p:cNvSpPr/>
          <p:nvPr/>
        </p:nvSpPr>
        <p:spPr>
          <a:xfrm>
            <a:off x="6126480" y="5394960"/>
            <a:ext cx="2560320" cy="320040"/>
          </a:xfrm>
          <a:prstGeom prst="rect">
            <a:avLst/>
          </a:prstGeom>
          <a:noFill/>
          <a:ln/>
        </p:spPr>
        <p:txBody>
          <a:bodyPr wrap="square" rtlCol="0" anchor="ctr"/>
          <a:lstStyle/>
          <a:p>
            <a:pPr indent="0" marL="0">
              <a:buNone/>
            </a:pPr>
            <a:r>
              <a:rPr lang="en-US" sz="1050" spc="100" kern="0" dirty="0">
                <a:solidFill>
                  <a:srgbClr val="CADCFC"/>
                </a:solidFill>
                <a:latin typeface="Calibri" pitchFamily="34" charset="0"/>
                <a:ea typeface="Calibri" pitchFamily="34" charset="-122"/>
                <a:cs typeface="Calibri" pitchFamily="34" charset="-120"/>
              </a:rPr>
              <a:t>ORDER LINE ITEMS</a:t>
            </a:r>
            <a:endParaRPr lang="en-US" sz="1050" dirty="0"/>
          </a:p>
        </p:txBody>
      </p:sp>
      <p:sp>
        <p:nvSpPr>
          <p:cNvPr id="13" name="Text 11"/>
          <p:cNvSpPr/>
          <p:nvPr/>
        </p:nvSpPr>
        <p:spPr>
          <a:xfrm>
            <a:off x="640080" y="6263640"/>
            <a:ext cx="7315200" cy="320040"/>
          </a:xfrm>
          <a:prstGeom prst="rect">
            <a:avLst/>
          </a:prstGeom>
          <a:noFill/>
          <a:ln/>
        </p:spPr>
        <p:txBody>
          <a:bodyPr wrap="square" rtlCol="0" anchor="ctr"/>
          <a:lstStyle/>
          <a:p>
            <a:pPr indent="0" marL="0">
              <a:buNone/>
            </a:pPr>
            <a:r>
              <a:rPr lang="en-US" sz="1100" dirty="0">
                <a:solidFill>
                  <a:srgbClr val="8A93B8"/>
                </a:solidFill>
                <a:latin typeface="Calibri" pitchFamily="34" charset="0"/>
                <a:ea typeface="Calibri" pitchFamily="34" charset="-122"/>
                <a:cs typeface="Calibri" pitchFamily="34" charset="-120"/>
              </a:rPr>
              <a:t>Prepared by Abhinandan  ·  Data Analytics Portfolio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Executive Summary</a:t>
            </a:r>
            <a:endParaRPr lang="en-US" sz="2800" dirty="0"/>
          </a:p>
        </p:txBody>
      </p:sp>
      <p:sp>
        <p:nvSpPr>
          <p:cNvPr id="3" name="Shape 1"/>
          <p:cNvSpPr/>
          <p:nvPr/>
        </p:nvSpPr>
        <p:spPr>
          <a:xfrm>
            <a:off x="548640" y="1417320"/>
            <a:ext cx="2560320" cy="1234440"/>
          </a:xfrm>
          <a:prstGeom prst="roundRect">
            <a:avLst>
              <a:gd name="adj" fmla="val 6667"/>
            </a:avLst>
          </a:prstGeom>
          <a:solidFill>
            <a:srgbClr val="EEF3FC"/>
          </a:solidFill>
          <a:ln w="12700">
            <a:solidFill>
              <a:srgbClr val="EEF3FC"/>
            </a:solidFill>
            <a:prstDash val="solid"/>
          </a:ln>
          <a:effectLst>
            <a:outerShdw sx="100000" sy="100000" kx="0" ky="0" algn="bl" rotWithShape="0" blurRad="76200" dist="25400" dir="5400000">
              <a:srgbClr val="1E2761">
                <a:alpha val="12000"/>
              </a:srgbClr>
            </a:outerShdw>
          </a:effectLst>
        </p:spPr>
      </p:sp>
      <p:sp>
        <p:nvSpPr>
          <p:cNvPr id="4" name="Text 2"/>
          <p:cNvSpPr/>
          <p:nvPr/>
        </p:nvSpPr>
        <p:spPr>
          <a:xfrm>
            <a:off x="658368" y="1527048"/>
            <a:ext cx="2340864" cy="678942"/>
          </a:xfrm>
          <a:prstGeom prst="rect">
            <a:avLst/>
          </a:prstGeom>
          <a:noFill/>
          <a:ln/>
        </p:spPr>
        <p:txBody>
          <a:bodyPr wrap="square" rtlCol="0" anchor="b"/>
          <a:lstStyle/>
          <a:p>
            <a:pPr algn="l" indent="0" marL="0">
              <a:buNone/>
            </a:pPr>
            <a:r>
              <a:rPr lang="en-US" sz="2200" b="1" dirty="0">
                <a:solidFill>
                  <a:srgbClr val="1E2761"/>
                </a:solidFill>
                <a:latin typeface="Cambria" pitchFamily="34" charset="0"/>
                <a:ea typeface="Cambria" pitchFamily="34" charset="-122"/>
                <a:cs typeface="Cambria" pitchFamily="34" charset="-120"/>
              </a:rPr>
              <a:t>R$ 13.22M</a:t>
            </a:r>
            <a:endParaRPr lang="en-US" sz="2200" dirty="0"/>
          </a:p>
        </p:txBody>
      </p:sp>
      <p:sp>
        <p:nvSpPr>
          <p:cNvPr id="5" name="Text 3"/>
          <p:cNvSpPr/>
          <p:nvPr/>
        </p:nvSpPr>
        <p:spPr>
          <a:xfrm>
            <a:off x="658368" y="2157984"/>
            <a:ext cx="2340864" cy="432054"/>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Total Revenue</a:t>
            </a:r>
            <a:endParaRPr lang="en-US" sz="1100" dirty="0"/>
          </a:p>
        </p:txBody>
      </p:sp>
      <p:sp>
        <p:nvSpPr>
          <p:cNvPr id="6" name="Shape 4"/>
          <p:cNvSpPr/>
          <p:nvPr/>
        </p:nvSpPr>
        <p:spPr>
          <a:xfrm>
            <a:off x="3337560" y="1417320"/>
            <a:ext cx="2560320" cy="1234440"/>
          </a:xfrm>
          <a:prstGeom prst="roundRect">
            <a:avLst>
              <a:gd name="adj" fmla="val 6667"/>
            </a:avLst>
          </a:prstGeom>
          <a:solidFill>
            <a:srgbClr val="E2EFF2"/>
          </a:solidFill>
          <a:ln w="12700">
            <a:solidFill>
              <a:srgbClr val="E2EFF2"/>
            </a:solidFill>
            <a:prstDash val="solid"/>
          </a:ln>
          <a:effectLst>
            <a:outerShdw sx="100000" sy="100000" kx="0" ky="0" algn="bl" rotWithShape="0" blurRad="76200" dist="25400" dir="5400000">
              <a:srgbClr val="1E2761">
                <a:alpha val="12000"/>
              </a:srgbClr>
            </a:outerShdw>
          </a:effectLst>
        </p:spPr>
      </p:sp>
      <p:sp>
        <p:nvSpPr>
          <p:cNvPr id="7" name="Text 5"/>
          <p:cNvSpPr/>
          <p:nvPr/>
        </p:nvSpPr>
        <p:spPr>
          <a:xfrm>
            <a:off x="3447288" y="1527048"/>
            <a:ext cx="2340864" cy="678942"/>
          </a:xfrm>
          <a:prstGeom prst="rect">
            <a:avLst/>
          </a:prstGeom>
          <a:noFill/>
          <a:ln/>
        </p:spPr>
        <p:txBody>
          <a:bodyPr wrap="square" rtlCol="0" anchor="b"/>
          <a:lstStyle/>
          <a:p>
            <a:pPr algn="l" indent="0" marL="0">
              <a:buNone/>
            </a:pPr>
            <a:r>
              <a:rPr lang="en-US" sz="2200" b="1" dirty="0">
                <a:solidFill>
                  <a:srgbClr val="1C7293"/>
                </a:solidFill>
                <a:latin typeface="Cambria" pitchFamily="34" charset="0"/>
                <a:ea typeface="Cambria" pitchFamily="34" charset="-122"/>
                <a:cs typeface="Cambria" pitchFamily="34" charset="-120"/>
              </a:rPr>
              <a:t>R$ 2.44M</a:t>
            </a:r>
            <a:endParaRPr lang="en-US" sz="2200" dirty="0"/>
          </a:p>
        </p:txBody>
      </p:sp>
      <p:sp>
        <p:nvSpPr>
          <p:cNvPr id="8" name="Text 6"/>
          <p:cNvSpPr/>
          <p:nvPr/>
        </p:nvSpPr>
        <p:spPr>
          <a:xfrm>
            <a:off x="3447288" y="2157984"/>
            <a:ext cx="2340864" cy="432054"/>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Estimated Profit</a:t>
            </a:r>
            <a:endParaRPr lang="en-US" sz="1100" dirty="0"/>
          </a:p>
        </p:txBody>
      </p:sp>
      <p:sp>
        <p:nvSpPr>
          <p:cNvPr id="9" name="Shape 7"/>
          <p:cNvSpPr/>
          <p:nvPr/>
        </p:nvSpPr>
        <p:spPr>
          <a:xfrm>
            <a:off x="6126480" y="1417320"/>
            <a:ext cx="2560320" cy="1234440"/>
          </a:xfrm>
          <a:prstGeom prst="roundRect">
            <a:avLst>
              <a:gd name="adj" fmla="val 6667"/>
            </a:avLst>
          </a:prstGeom>
          <a:solidFill>
            <a:srgbClr val="FBE7E3"/>
          </a:solidFill>
          <a:ln w="12700">
            <a:solidFill>
              <a:srgbClr val="FBE7E3"/>
            </a:solidFill>
            <a:prstDash val="solid"/>
          </a:ln>
          <a:effectLst>
            <a:outerShdw sx="100000" sy="100000" kx="0" ky="0" algn="bl" rotWithShape="0" blurRad="76200" dist="25400" dir="5400000">
              <a:srgbClr val="1E2761">
                <a:alpha val="12000"/>
              </a:srgbClr>
            </a:outerShdw>
          </a:effectLst>
        </p:spPr>
      </p:sp>
      <p:sp>
        <p:nvSpPr>
          <p:cNvPr id="10" name="Text 8"/>
          <p:cNvSpPr/>
          <p:nvPr/>
        </p:nvSpPr>
        <p:spPr>
          <a:xfrm>
            <a:off x="6236208" y="1527048"/>
            <a:ext cx="2340864" cy="678942"/>
          </a:xfrm>
          <a:prstGeom prst="rect">
            <a:avLst/>
          </a:prstGeom>
          <a:noFill/>
          <a:ln/>
        </p:spPr>
        <p:txBody>
          <a:bodyPr wrap="square" rtlCol="0" anchor="b"/>
          <a:lstStyle/>
          <a:p>
            <a:pPr algn="l" indent="0" marL="0">
              <a:buNone/>
            </a:pPr>
            <a:r>
              <a:rPr lang="en-US" sz="2200" b="1" dirty="0">
                <a:solidFill>
                  <a:srgbClr val="D9614F"/>
                </a:solidFill>
                <a:latin typeface="Cambria" pitchFamily="34" charset="0"/>
                <a:ea typeface="Cambria" pitchFamily="34" charset="-122"/>
                <a:cs typeface="Cambria" pitchFamily="34" charset="-120"/>
              </a:rPr>
              <a:t>18.45%</a:t>
            </a:r>
            <a:endParaRPr lang="en-US" sz="2200" dirty="0"/>
          </a:p>
        </p:txBody>
      </p:sp>
      <p:sp>
        <p:nvSpPr>
          <p:cNvPr id="11" name="Text 9"/>
          <p:cNvSpPr/>
          <p:nvPr/>
        </p:nvSpPr>
        <p:spPr>
          <a:xfrm>
            <a:off x="6236208" y="2157984"/>
            <a:ext cx="2340864" cy="432054"/>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Profit Margin</a:t>
            </a:r>
            <a:endParaRPr lang="en-US" sz="1100" dirty="0"/>
          </a:p>
        </p:txBody>
      </p:sp>
      <p:sp>
        <p:nvSpPr>
          <p:cNvPr id="12" name="Shape 10"/>
          <p:cNvSpPr/>
          <p:nvPr/>
        </p:nvSpPr>
        <p:spPr>
          <a:xfrm>
            <a:off x="8915400" y="1417320"/>
            <a:ext cx="2560320" cy="1234440"/>
          </a:xfrm>
          <a:prstGeom prst="roundRect">
            <a:avLst>
              <a:gd name="adj" fmla="val 6667"/>
            </a:avLst>
          </a:prstGeom>
          <a:solidFill>
            <a:srgbClr val="FBE7E3"/>
          </a:solidFill>
          <a:ln w="12700">
            <a:solidFill>
              <a:srgbClr val="FBE7E3"/>
            </a:solidFill>
            <a:prstDash val="solid"/>
          </a:ln>
          <a:effectLst>
            <a:outerShdw sx="100000" sy="100000" kx="0" ky="0" algn="bl" rotWithShape="0" blurRad="76200" dist="25400" dir="5400000">
              <a:srgbClr val="1E2761">
                <a:alpha val="12000"/>
              </a:srgbClr>
            </a:outerShdw>
          </a:effectLst>
        </p:spPr>
      </p:sp>
      <p:sp>
        <p:nvSpPr>
          <p:cNvPr id="13" name="Text 11"/>
          <p:cNvSpPr/>
          <p:nvPr/>
        </p:nvSpPr>
        <p:spPr>
          <a:xfrm>
            <a:off x="9025128" y="1527048"/>
            <a:ext cx="2340864" cy="678942"/>
          </a:xfrm>
          <a:prstGeom prst="rect">
            <a:avLst/>
          </a:prstGeom>
          <a:noFill/>
          <a:ln/>
        </p:spPr>
        <p:txBody>
          <a:bodyPr wrap="square" rtlCol="0" anchor="b"/>
          <a:lstStyle/>
          <a:p>
            <a:pPr algn="l" indent="0" marL="0">
              <a:buNone/>
            </a:pPr>
            <a:r>
              <a:rPr lang="en-US" sz="2200" b="1" dirty="0">
                <a:solidFill>
                  <a:srgbClr val="D9614F"/>
                </a:solidFill>
                <a:latin typeface="Cambria" pitchFamily="34" charset="0"/>
                <a:ea typeface="Cambria" pitchFamily="34" charset="-122"/>
                <a:cs typeface="Cambria" pitchFamily="34" charset="-120"/>
              </a:rPr>
              <a:t>16.6%</a:t>
            </a:r>
            <a:endParaRPr lang="en-US" sz="2200" dirty="0"/>
          </a:p>
        </p:txBody>
      </p:sp>
      <p:sp>
        <p:nvSpPr>
          <p:cNvPr id="14" name="Text 12"/>
          <p:cNvSpPr/>
          <p:nvPr/>
        </p:nvSpPr>
        <p:spPr>
          <a:xfrm>
            <a:off x="9025128" y="2157984"/>
            <a:ext cx="2340864" cy="432054"/>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Shipping Cost / Revenue</a:t>
            </a:r>
            <a:endParaRPr lang="en-US" sz="1100" dirty="0"/>
          </a:p>
        </p:txBody>
      </p:sp>
      <p:sp>
        <p:nvSpPr>
          <p:cNvPr id="15" name="Shape 13"/>
          <p:cNvSpPr/>
          <p:nvPr/>
        </p:nvSpPr>
        <p:spPr>
          <a:xfrm>
            <a:off x="548640" y="2971800"/>
            <a:ext cx="11064240" cy="1874520"/>
          </a:xfrm>
          <a:prstGeom prst="roundRect">
            <a:avLst>
              <a:gd name="adj" fmla="val 3902"/>
            </a:avLst>
          </a:prstGeom>
          <a:solidFill>
            <a:srgbClr val="FFFFFF"/>
          </a:solidFill>
          <a:ln w="12700">
            <a:solidFill>
              <a:srgbClr val="E6E9F0"/>
            </a:solidFill>
            <a:prstDash val="solid"/>
          </a:ln>
        </p:spPr>
      </p:sp>
      <p:sp>
        <p:nvSpPr>
          <p:cNvPr id="16" name="Text 14"/>
          <p:cNvSpPr/>
          <p:nvPr/>
        </p:nvSpPr>
        <p:spPr>
          <a:xfrm>
            <a:off x="868680" y="3154680"/>
            <a:ext cx="3657600" cy="320040"/>
          </a:xfrm>
          <a:prstGeom prst="rect">
            <a:avLst/>
          </a:prstGeom>
          <a:noFill/>
          <a:ln/>
        </p:spPr>
        <p:txBody>
          <a:bodyPr wrap="square"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The headline</a:t>
            </a:r>
            <a:endParaRPr lang="en-US" sz="1100" dirty="0"/>
          </a:p>
        </p:txBody>
      </p:sp>
      <p:sp>
        <p:nvSpPr>
          <p:cNvPr id="17" name="Text 15"/>
          <p:cNvSpPr/>
          <p:nvPr/>
        </p:nvSpPr>
        <p:spPr>
          <a:xfrm>
            <a:off x="868680" y="3520440"/>
            <a:ext cx="10424160" cy="1188720"/>
          </a:xfrm>
          <a:prstGeom prst="rect">
            <a:avLst/>
          </a:prstGeom>
          <a:noFill/>
          <a:ln/>
        </p:spPr>
        <p:txBody>
          <a:bodyPr wrap="square" rtlCol="0" anchor="ctr"/>
          <a:lstStyle/>
          <a:p>
            <a:pPr indent="0" marL="0">
              <a:lnSpc>
                <a:spcPts val="2100"/>
              </a:lnSpc>
              <a:buNone/>
            </a:pPr>
            <a:r>
              <a:rPr lang="en-US" sz="1450" dirty="0">
                <a:solidFill>
                  <a:srgbClr val="1E2233"/>
                </a:solidFill>
                <a:latin typeface="Calibri" pitchFamily="34" charset="0"/>
                <a:ea typeface="Calibri" pitchFamily="34" charset="-122"/>
                <a:cs typeface="Calibri" pitchFamily="34" charset="-120"/>
              </a:rPr>
              <a:t>Revenue has grown consistently, but profit margin is structurally capped: under the project's cost model, every rupee of shipping cost is a rupee of margin lost 1-for-1. Shipping cost as a share of revenue is the single largest controllable driver of the profitability gap — and it varies sharply by product category and by customer region.</a:t>
            </a:r>
            <a:endParaRPr lang="en-US" sz="1450" dirty="0"/>
          </a:p>
        </p:txBody>
      </p:sp>
      <p:sp>
        <p:nvSpPr>
          <p:cNvPr id="18" name="Shape 16"/>
          <p:cNvSpPr/>
          <p:nvPr/>
        </p:nvSpPr>
        <p:spPr>
          <a:xfrm>
            <a:off x="548640" y="5074920"/>
            <a:ext cx="11064240" cy="1234440"/>
          </a:xfrm>
          <a:prstGeom prst="roundRect">
            <a:avLst>
              <a:gd name="adj" fmla="val 5926"/>
            </a:avLst>
          </a:prstGeom>
          <a:solidFill>
            <a:srgbClr val="1E2761"/>
          </a:solidFill>
          <a:ln w="12700">
            <a:solidFill>
              <a:srgbClr val="1E2761"/>
            </a:solidFill>
            <a:prstDash val="solid"/>
          </a:ln>
        </p:spPr>
      </p:sp>
      <p:sp>
        <p:nvSpPr>
          <p:cNvPr id="19" name="Text 17"/>
          <p:cNvSpPr/>
          <p:nvPr/>
        </p:nvSpPr>
        <p:spPr>
          <a:xfrm>
            <a:off x="868680" y="5230368"/>
            <a:ext cx="2743200" cy="320040"/>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Bottom line for management:</a:t>
            </a:r>
            <a:endParaRPr lang="en-US" sz="1100" dirty="0"/>
          </a:p>
        </p:txBody>
      </p:sp>
      <p:sp>
        <p:nvSpPr>
          <p:cNvPr id="20" name="Text 18"/>
          <p:cNvSpPr/>
          <p:nvPr/>
        </p:nvSpPr>
        <p:spPr>
          <a:xfrm>
            <a:off x="868680" y="5532120"/>
            <a:ext cx="10424160" cy="685800"/>
          </a:xfrm>
          <a:prstGeom prst="rect">
            <a:avLst/>
          </a:prstGeom>
          <a:noFill/>
          <a:ln/>
        </p:spPr>
        <p:txBody>
          <a:bodyPr wrap="square" rtlCol="0" anchor="ctr"/>
          <a:lstStyle/>
          <a:p>
            <a:pPr indent="0" marL="0">
              <a:lnSpc>
                <a:spcPts val="2000"/>
              </a:lnSpc>
              <a:buNone/>
            </a:pPr>
            <a:r>
              <a:rPr lang="en-US" sz="1600" i="1" dirty="0">
                <a:solidFill>
                  <a:srgbClr val="FFFFFF"/>
                </a:solidFill>
                <a:latin typeface="Cambria" pitchFamily="34" charset="0"/>
                <a:ea typeface="Cambria" pitchFamily="34" charset="-122"/>
                <a:cs typeface="Cambria" pitchFamily="34" charset="-120"/>
              </a:rPr>
              <a:t>Fix the shipping-cost mix in specific categories and remote states before chasing more revenue — it will do more for profit than growth alone.</a:t>
            </a:r>
            <a:endParaRPr lang="en-US" sz="1600" dirty="0"/>
          </a:p>
        </p:txBody>
      </p:sp>
      <p:sp>
        <p:nvSpPr>
          <p:cNvPr id="21" name="Text 19"/>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22" name="Text 20"/>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The Business Problem</a:t>
            </a:r>
            <a:endParaRPr lang="en-US" sz="2800" dirty="0"/>
          </a:p>
        </p:txBody>
      </p:sp>
      <p:sp>
        <p:nvSpPr>
          <p:cNvPr id="3" name="Shape 1"/>
          <p:cNvSpPr/>
          <p:nvPr/>
        </p:nvSpPr>
        <p:spPr>
          <a:xfrm>
            <a:off x="548640" y="1554480"/>
            <a:ext cx="6400800" cy="4480560"/>
          </a:xfrm>
          <a:prstGeom prst="roundRect">
            <a:avLst>
              <a:gd name="adj" fmla="val 1633"/>
            </a:avLst>
          </a:prstGeom>
          <a:solidFill>
            <a:srgbClr val="F7F8FB"/>
          </a:solidFill>
          <a:ln w="12700">
            <a:solidFill>
              <a:srgbClr val="E6E9F0"/>
            </a:solidFill>
            <a:prstDash val="solid"/>
          </a:ln>
        </p:spPr>
      </p:sp>
      <p:sp>
        <p:nvSpPr>
          <p:cNvPr id="4" name="Text 2"/>
          <p:cNvSpPr/>
          <p:nvPr/>
        </p:nvSpPr>
        <p:spPr>
          <a:xfrm>
            <a:off x="868680" y="1783080"/>
            <a:ext cx="57607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management observed</a:t>
            </a:r>
            <a:endParaRPr lang="en-US" sz="1300" dirty="0"/>
          </a:p>
        </p:txBody>
      </p:sp>
      <p:sp>
        <p:nvSpPr>
          <p:cNvPr id="5" name="Text 3"/>
          <p:cNvSpPr/>
          <p:nvPr/>
        </p:nvSpPr>
        <p:spPr>
          <a:xfrm>
            <a:off x="868680" y="2194560"/>
            <a:ext cx="5760720" cy="3566160"/>
          </a:xfrm>
          <a:prstGeom prst="rect">
            <a:avLst/>
          </a:prstGeom>
          <a:noFill/>
          <a:ln/>
        </p:spPr>
        <p:txBody>
          <a:bodyPr wrap="square" rtlCol="0" anchor="ctr"/>
          <a:lstStyle/>
          <a:p>
            <a:pPr marL="228600" indent="-228600">
              <a:lnSpc>
                <a:spcPts val="2200"/>
              </a:lnSpc>
              <a:spcAft>
                <a:spcPts val="1000"/>
              </a:spcAft>
              <a:buSzPct val="100000"/>
              <a:buChar char="•"/>
            </a:pPr>
            <a:r>
              <a:rPr lang="en-US" sz="1400" dirty="0">
                <a:solidFill>
                  <a:srgbClr val="1E2233"/>
                </a:solidFill>
                <a:latin typeface="Calibri" pitchFamily="34" charset="0"/>
                <a:ea typeface="Calibri" pitchFamily="34" charset="-122"/>
                <a:cs typeface="Calibri" pitchFamily="34" charset="-120"/>
              </a:rPr>
              <a:t>Revenue has been increasing steadily, order over order.</a:t>
            </a:r>
            <a:endParaRPr lang="en-US" sz="1400" dirty="0"/>
          </a:p>
          <a:p>
            <a:pPr marL="228600" indent="-228600">
              <a:lnSpc>
                <a:spcPts val="2200"/>
              </a:lnSpc>
              <a:spcAft>
                <a:spcPts val="1000"/>
              </a:spcAft>
              <a:buSzPct val="100000"/>
              <a:buChar char="•"/>
            </a:pPr>
            <a:r>
              <a:rPr lang="en-US" sz="1400" dirty="0">
                <a:solidFill>
                  <a:srgbClr val="1E2233"/>
                </a:solidFill>
                <a:latin typeface="Calibri" pitchFamily="34" charset="0"/>
                <a:ea typeface="Calibri" pitchFamily="34" charset="-122"/>
                <a:cs typeface="Calibri" pitchFamily="34" charset="-120"/>
              </a:rPr>
              <a:t>Profitability is not increasing in proportion — the margin is not scaling with growth.</a:t>
            </a:r>
            <a:endParaRPr lang="en-US" sz="1400" dirty="0"/>
          </a:p>
          <a:p>
            <a:pPr marL="228600" indent="-228600">
              <a:lnSpc>
                <a:spcPts val="2200"/>
              </a:lnSpc>
              <a:spcAft>
                <a:spcPts val="1000"/>
              </a:spcAft>
              <a:buSzPct val="100000"/>
              <a:buChar char="•"/>
            </a:pPr>
            <a:r>
              <a:rPr lang="en-US" sz="1400" dirty="0">
                <a:solidFill>
                  <a:srgbClr val="1E2233"/>
                </a:solidFill>
                <a:latin typeface="Calibri" pitchFamily="34" charset="0"/>
                <a:ea typeface="Calibri" pitchFamily="34" charset="-122"/>
                <a:cs typeface="Calibri" pitchFamily="34" charset="-120"/>
              </a:rPr>
              <a:t>No clear internal view of which categories, states, or customer segments are quietly eroding margin.</a:t>
            </a:r>
            <a:endParaRPr lang="en-US" sz="1400" dirty="0"/>
          </a:p>
          <a:p>
            <a:pPr marL="228600" indent="-228600">
              <a:lnSpc>
                <a:spcPts val="2200"/>
              </a:lnSpc>
              <a:spcAft>
                <a:spcPts val="1000"/>
              </a:spcAft>
              <a:buSzPct val="100000"/>
              <a:buChar char="•"/>
            </a:pPr>
            <a:r>
              <a:rPr lang="en-US" sz="1400" dirty="0">
                <a:solidFill>
                  <a:srgbClr val="1E2233"/>
                </a:solidFill>
                <a:latin typeface="Calibri" pitchFamily="34" charset="0"/>
                <a:ea typeface="Calibri" pitchFamily="34" charset="-122"/>
                <a:cs typeface="Calibri" pitchFamily="34" charset="-120"/>
              </a:rPr>
              <a:t>Decisions on pricing, logistics, and category focus are currently made without this visibility.</a:t>
            </a:r>
            <a:endParaRPr lang="en-US" sz="1400" dirty="0"/>
          </a:p>
        </p:txBody>
      </p:sp>
      <p:sp>
        <p:nvSpPr>
          <p:cNvPr id="6" name="Shape 4"/>
          <p:cNvSpPr/>
          <p:nvPr/>
        </p:nvSpPr>
        <p:spPr>
          <a:xfrm>
            <a:off x="7223760" y="1554480"/>
            <a:ext cx="4389120" cy="4480560"/>
          </a:xfrm>
          <a:prstGeom prst="roundRect">
            <a:avLst>
              <a:gd name="adj" fmla="val 1667"/>
            </a:avLst>
          </a:prstGeom>
          <a:solidFill>
            <a:srgbClr val="1E2761"/>
          </a:solidFill>
          <a:ln w="12700">
            <a:solidFill>
              <a:srgbClr val="1E2761"/>
            </a:solidFill>
            <a:prstDash val="solid"/>
          </a:ln>
        </p:spPr>
      </p:sp>
      <p:sp>
        <p:nvSpPr>
          <p:cNvPr id="7" name="Text 5"/>
          <p:cNvSpPr/>
          <p:nvPr/>
        </p:nvSpPr>
        <p:spPr>
          <a:xfrm>
            <a:off x="7543800" y="1783080"/>
            <a:ext cx="3749040" cy="365760"/>
          </a:xfrm>
          <a:prstGeom prst="rect">
            <a:avLst/>
          </a:prstGeom>
          <a:noFill/>
          <a:ln/>
        </p:spPr>
        <p:txBody>
          <a:bodyPr wrap="square" rtlCol="0" anchor="ctr"/>
          <a:lstStyle/>
          <a:p>
            <a:pPr indent="0" marL="0">
              <a:buNone/>
            </a:pPr>
            <a:r>
              <a:rPr lang="en-US" sz="1300" b="1" dirty="0">
                <a:solidFill>
                  <a:srgbClr val="D9614F"/>
                </a:solidFill>
                <a:latin typeface="Calibri" pitchFamily="34" charset="0"/>
                <a:ea typeface="Calibri" pitchFamily="34" charset="-122"/>
                <a:cs typeface="Calibri" pitchFamily="34" charset="-120"/>
              </a:rPr>
              <a:t>Objective</a:t>
            </a:r>
            <a:endParaRPr lang="en-US" sz="1300" dirty="0"/>
          </a:p>
        </p:txBody>
      </p:sp>
      <p:sp>
        <p:nvSpPr>
          <p:cNvPr id="8" name="Text 6"/>
          <p:cNvSpPr/>
          <p:nvPr/>
        </p:nvSpPr>
        <p:spPr>
          <a:xfrm>
            <a:off x="7543800" y="2194560"/>
            <a:ext cx="3794760" cy="2011680"/>
          </a:xfrm>
          <a:prstGeom prst="rect">
            <a:avLst/>
          </a:prstGeom>
          <a:noFill/>
          <a:ln/>
        </p:spPr>
        <p:txBody>
          <a:bodyPr wrap="square" rtlCol="0" anchor="ctr"/>
          <a:lstStyle/>
          <a:p>
            <a:pPr indent="0" marL="0">
              <a:lnSpc>
                <a:spcPts val="2200"/>
              </a:lnSpc>
              <a:buNone/>
            </a:pPr>
            <a:r>
              <a:rPr lang="en-US" sz="1600" i="1" dirty="0">
                <a:solidFill>
                  <a:srgbClr val="FFFFFF"/>
                </a:solidFill>
                <a:latin typeface="Cambria" pitchFamily="34" charset="0"/>
                <a:ea typeface="Cambria" pitchFamily="34" charset="-122"/>
                <a:cs typeface="Cambria" pitchFamily="34" charset="-120"/>
              </a:rPr>
              <a:t>Analyze the business from an executive perspective and determine why profitability is not increasing proportionally with revenue — then translate the answer into ranked, actionable recommendations.</a:t>
            </a:r>
            <a:endParaRPr lang="en-US" sz="1600" dirty="0"/>
          </a:p>
        </p:txBody>
      </p:sp>
      <p:sp>
        <p:nvSpPr>
          <p:cNvPr id="9" name="Shape 7"/>
          <p:cNvSpPr/>
          <p:nvPr/>
        </p:nvSpPr>
        <p:spPr>
          <a:xfrm>
            <a:off x="7543800" y="4343400"/>
            <a:ext cx="3749040" cy="0"/>
          </a:xfrm>
          <a:prstGeom prst="line">
            <a:avLst/>
          </a:prstGeom>
          <a:noFill/>
          <a:ln w="12700">
            <a:solidFill>
              <a:srgbClr val="3A4380"/>
            </a:solidFill>
            <a:prstDash val="solid"/>
          </a:ln>
        </p:spPr>
      </p:sp>
      <p:sp>
        <p:nvSpPr>
          <p:cNvPr id="10" name="Text 8"/>
          <p:cNvSpPr/>
          <p:nvPr/>
        </p:nvSpPr>
        <p:spPr>
          <a:xfrm>
            <a:off x="7543800" y="4526280"/>
            <a:ext cx="3749040" cy="274320"/>
          </a:xfrm>
          <a:prstGeom prst="rect">
            <a:avLst/>
          </a:prstGeom>
          <a:noFill/>
          <a:ln/>
        </p:spPr>
        <p:txBody>
          <a:bodyPr wrap="square" rtlCol="0" anchor="ctr"/>
          <a:lstStyle/>
          <a:p>
            <a:pPr indent="0" marL="0">
              <a:buNone/>
            </a:pPr>
            <a:r>
              <a:rPr lang="en-US" sz="1050" b="1" spc="100" kern="0" dirty="0">
                <a:solidFill>
                  <a:srgbClr val="CADCFC"/>
                </a:solidFill>
                <a:latin typeface="Calibri" pitchFamily="34" charset="0"/>
                <a:ea typeface="Calibri" pitchFamily="34" charset="-122"/>
                <a:cs typeface="Calibri" pitchFamily="34" charset="-120"/>
              </a:rPr>
              <a:t>Guiding question</a:t>
            </a:r>
            <a:endParaRPr lang="en-US" sz="1050" dirty="0"/>
          </a:p>
        </p:txBody>
      </p:sp>
      <p:sp>
        <p:nvSpPr>
          <p:cNvPr id="11" name="Text 9"/>
          <p:cNvSpPr/>
          <p:nvPr/>
        </p:nvSpPr>
        <p:spPr>
          <a:xfrm>
            <a:off x="7543800" y="4846320"/>
            <a:ext cx="3749040" cy="1005840"/>
          </a:xfrm>
          <a:prstGeom prst="rect">
            <a:avLst/>
          </a:prstGeom>
          <a:noFill/>
          <a:ln/>
        </p:spPr>
        <p:txBody>
          <a:bodyPr wrap="square" rtlCol="0" anchor="ctr"/>
          <a:lstStyle/>
          <a:p>
            <a:pPr indent="0" marL="0">
              <a:lnSpc>
                <a:spcPts val="1700"/>
              </a:lnSpc>
              <a:buNone/>
            </a:pPr>
            <a:r>
              <a:rPr lang="en-US" sz="1250" i="1" dirty="0">
                <a:solidFill>
                  <a:srgbClr val="CADCFC"/>
                </a:solidFill>
                <a:latin typeface="Calibri" pitchFamily="34" charset="0"/>
                <a:ea typeface="Calibri" pitchFamily="34" charset="-122"/>
                <a:cs typeface="Calibri" pitchFamily="34" charset="-120"/>
              </a:rPr>
              <a:t>“Where exactly is margin leaking, and what should we do about it first?”</a:t>
            </a:r>
            <a:endParaRPr lang="en-US" sz="1250" dirty="0"/>
          </a:p>
        </p:txBody>
      </p:sp>
      <p:sp>
        <p:nvSpPr>
          <p:cNvPr id="12" name="Text 10"/>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13" name="Text 1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Dataset Overview</a:t>
            </a:r>
            <a:endParaRPr lang="en-US" sz="2800" dirty="0"/>
          </a:p>
        </p:txBody>
      </p:sp>
      <p:sp>
        <p:nvSpPr>
          <p:cNvPr id="3" name="Text 1"/>
          <p:cNvSpPr/>
          <p:nvPr/>
        </p:nvSpPr>
        <p:spPr>
          <a:xfrm>
            <a:off x="548640" y="868680"/>
            <a:ext cx="10515600" cy="36576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Brazilian E-commerce Public Dataset (Olist) — Kaggle</a:t>
            </a:r>
            <a:endParaRPr lang="en-US" sz="1300" dirty="0"/>
          </a:p>
        </p:txBody>
      </p:sp>
      <p:sp>
        <p:nvSpPr>
          <p:cNvPr id="4" name="Shape 2"/>
          <p:cNvSpPr/>
          <p:nvPr/>
        </p:nvSpPr>
        <p:spPr>
          <a:xfrm>
            <a:off x="548640" y="1600200"/>
            <a:ext cx="2560320" cy="1737360"/>
          </a:xfrm>
          <a:prstGeom prst="roundRect">
            <a:avLst>
              <a:gd name="adj" fmla="val 526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5" name="Shape 3"/>
          <p:cNvSpPr/>
          <p:nvPr/>
        </p:nvSpPr>
        <p:spPr>
          <a:xfrm>
            <a:off x="1371600" y="1783080"/>
            <a:ext cx="914400" cy="914400"/>
          </a:xfrm>
          <a:prstGeom prst="ellipse">
            <a:avLst/>
          </a:prstGeom>
          <a:solidFill>
            <a:srgbClr val="1E2761"/>
          </a:solidFill>
          <a:ln/>
        </p:spPr>
      </p:sp>
      <p:sp>
        <p:nvSpPr>
          <p:cNvPr id="6" name="Text 4"/>
          <p:cNvSpPr/>
          <p:nvPr/>
        </p:nvSpPr>
        <p:spPr>
          <a:xfrm>
            <a:off x="548640" y="1965960"/>
            <a:ext cx="256032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112,650</a:t>
            </a:r>
            <a:endParaRPr lang="en-US" sz="1500" dirty="0"/>
          </a:p>
        </p:txBody>
      </p:sp>
      <p:sp>
        <p:nvSpPr>
          <p:cNvPr id="7" name="Text 5"/>
          <p:cNvSpPr/>
          <p:nvPr/>
        </p:nvSpPr>
        <p:spPr>
          <a:xfrm>
            <a:off x="685800" y="2788920"/>
            <a:ext cx="2286000" cy="457200"/>
          </a:xfrm>
          <a:prstGeom prst="rect">
            <a:avLst/>
          </a:prstGeom>
          <a:noFill/>
          <a:ln/>
        </p:spPr>
        <p:txBody>
          <a:bodyPr wrap="square"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Order line items</a:t>
            </a:r>
            <a:endParaRPr lang="en-US" sz="1150" dirty="0"/>
          </a:p>
        </p:txBody>
      </p:sp>
      <p:sp>
        <p:nvSpPr>
          <p:cNvPr id="8" name="Shape 6"/>
          <p:cNvSpPr/>
          <p:nvPr/>
        </p:nvSpPr>
        <p:spPr>
          <a:xfrm>
            <a:off x="3337560" y="1600200"/>
            <a:ext cx="2560320" cy="1737360"/>
          </a:xfrm>
          <a:prstGeom prst="roundRect">
            <a:avLst>
              <a:gd name="adj" fmla="val 526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9" name="Shape 7"/>
          <p:cNvSpPr/>
          <p:nvPr/>
        </p:nvSpPr>
        <p:spPr>
          <a:xfrm>
            <a:off x="4160520" y="1783080"/>
            <a:ext cx="914400" cy="914400"/>
          </a:xfrm>
          <a:prstGeom prst="ellipse">
            <a:avLst/>
          </a:prstGeom>
          <a:solidFill>
            <a:srgbClr val="1C7293"/>
          </a:solidFill>
          <a:ln/>
        </p:spPr>
      </p:sp>
      <p:sp>
        <p:nvSpPr>
          <p:cNvPr id="10" name="Text 8"/>
          <p:cNvSpPr/>
          <p:nvPr/>
        </p:nvSpPr>
        <p:spPr>
          <a:xfrm>
            <a:off x="3337560" y="1965960"/>
            <a:ext cx="256032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98,666</a:t>
            </a:r>
            <a:endParaRPr lang="en-US" sz="1500" dirty="0"/>
          </a:p>
        </p:txBody>
      </p:sp>
      <p:sp>
        <p:nvSpPr>
          <p:cNvPr id="11" name="Text 9"/>
          <p:cNvSpPr/>
          <p:nvPr/>
        </p:nvSpPr>
        <p:spPr>
          <a:xfrm>
            <a:off x="3474720" y="2788920"/>
            <a:ext cx="2286000" cy="457200"/>
          </a:xfrm>
          <a:prstGeom prst="rect">
            <a:avLst/>
          </a:prstGeom>
          <a:noFill/>
          <a:ln/>
        </p:spPr>
        <p:txBody>
          <a:bodyPr wrap="square"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Unique orders</a:t>
            </a:r>
            <a:endParaRPr lang="en-US" sz="1150" dirty="0"/>
          </a:p>
        </p:txBody>
      </p:sp>
      <p:sp>
        <p:nvSpPr>
          <p:cNvPr id="12" name="Shape 10"/>
          <p:cNvSpPr/>
          <p:nvPr/>
        </p:nvSpPr>
        <p:spPr>
          <a:xfrm>
            <a:off x="6126480" y="1600200"/>
            <a:ext cx="2560320" cy="1737360"/>
          </a:xfrm>
          <a:prstGeom prst="roundRect">
            <a:avLst>
              <a:gd name="adj" fmla="val 526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13" name="Shape 11"/>
          <p:cNvSpPr/>
          <p:nvPr/>
        </p:nvSpPr>
        <p:spPr>
          <a:xfrm>
            <a:off x="6949440" y="1783080"/>
            <a:ext cx="914400" cy="914400"/>
          </a:xfrm>
          <a:prstGeom prst="ellipse">
            <a:avLst/>
          </a:prstGeom>
          <a:solidFill>
            <a:srgbClr val="D9614F"/>
          </a:solidFill>
          <a:ln/>
        </p:spPr>
      </p:sp>
      <p:sp>
        <p:nvSpPr>
          <p:cNvPr id="14" name="Text 12"/>
          <p:cNvSpPr/>
          <p:nvPr/>
        </p:nvSpPr>
        <p:spPr>
          <a:xfrm>
            <a:off x="6126480" y="1965960"/>
            <a:ext cx="256032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93,358</a:t>
            </a:r>
            <a:endParaRPr lang="en-US" sz="1500" dirty="0"/>
          </a:p>
        </p:txBody>
      </p:sp>
      <p:sp>
        <p:nvSpPr>
          <p:cNvPr id="15" name="Text 13"/>
          <p:cNvSpPr/>
          <p:nvPr/>
        </p:nvSpPr>
        <p:spPr>
          <a:xfrm>
            <a:off x="6263640" y="2788920"/>
            <a:ext cx="2286000" cy="457200"/>
          </a:xfrm>
          <a:prstGeom prst="rect">
            <a:avLst/>
          </a:prstGeom>
          <a:noFill/>
          <a:ln/>
        </p:spPr>
        <p:txBody>
          <a:bodyPr wrap="square"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Unique customers</a:t>
            </a:r>
            <a:endParaRPr lang="en-US" sz="1150" dirty="0"/>
          </a:p>
        </p:txBody>
      </p:sp>
      <p:sp>
        <p:nvSpPr>
          <p:cNvPr id="16" name="Shape 14"/>
          <p:cNvSpPr/>
          <p:nvPr/>
        </p:nvSpPr>
        <p:spPr>
          <a:xfrm>
            <a:off x="8915400" y="1600200"/>
            <a:ext cx="2560320" cy="1737360"/>
          </a:xfrm>
          <a:prstGeom prst="roundRect">
            <a:avLst>
              <a:gd name="adj" fmla="val 526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17" name="Shape 15"/>
          <p:cNvSpPr/>
          <p:nvPr/>
        </p:nvSpPr>
        <p:spPr>
          <a:xfrm>
            <a:off x="9738360" y="1783080"/>
            <a:ext cx="914400" cy="914400"/>
          </a:xfrm>
          <a:prstGeom prst="ellipse">
            <a:avLst/>
          </a:prstGeom>
          <a:solidFill>
            <a:srgbClr val="1E2761"/>
          </a:solidFill>
          <a:ln/>
        </p:spPr>
      </p:sp>
      <p:sp>
        <p:nvSpPr>
          <p:cNvPr id="18" name="Text 16"/>
          <p:cNvSpPr/>
          <p:nvPr/>
        </p:nvSpPr>
        <p:spPr>
          <a:xfrm>
            <a:off x="8915400" y="1965960"/>
            <a:ext cx="2560320" cy="54864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19" name="Text 17"/>
          <p:cNvSpPr/>
          <p:nvPr/>
        </p:nvSpPr>
        <p:spPr>
          <a:xfrm>
            <a:off x="9052560" y="2788920"/>
            <a:ext cx="2286000" cy="457200"/>
          </a:xfrm>
          <a:prstGeom prst="rect">
            <a:avLst/>
          </a:prstGeom>
          <a:noFill/>
          <a:ln/>
        </p:spPr>
        <p:txBody>
          <a:bodyPr wrap="square" rtlCol="0" anchor="ctr"/>
          <a:lstStyle/>
          <a:p>
            <a:pPr algn="ctr" indent="0" marL="0">
              <a:buNone/>
            </a:pPr>
            <a:r>
              <a:rPr lang="en-US" sz="1150" dirty="0">
                <a:solidFill>
                  <a:srgbClr val="5B6478"/>
                </a:solidFill>
                <a:latin typeface="Calibri" pitchFamily="34" charset="0"/>
                <a:ea typeface="Calibri" pitchFamily="34" charset="-122"/>
                <a:cs typeface="Calibri" pitchFamily="34" charset="-120"/>
              </a:rPr>
              <a:t>Source tables merged</a:t>
            </a:r>
            <a:endParaRPr lang="en-US" sz="1150" dirty="0"/>
          </a:p>
        </p:txBody>
      </p:sp>
      <p:sp>
        <p:nvSpPr>
          <p:cNvPr id="20" name="Text 18"/>
          <p:cNvSpPr/>
          <p:nvPr/>
        </p:nvSpPr>
        <p:spPr>
          <a:xfrm>
            <a:off x="548640" y="3749040"/>
            <a:ext cx="548640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Merged data sources</a:t>
            </a:r>
            <a:endParaRPr lang="en-US" sz="1300" dirty="0"/>
          </a:p>
        </p:txBody>
      </p:sp>
      <p:sp>
        <p:nvSpPr>
          <p:cNvPr id="21" name="Text 19"/>
          <p:cNvSpPr/>
          <p:nvPr/>
        </p:nvSpPr>
        <p:spPr>
          <a:xfrm>
            <a:off x="548640" y="4114800"/>
            <a:ext cx="10698480" cy="457200"/>
          </a:xfrm>
          <a:prstGeom prst="rect">
            <a:avLst/>
          </a:prstGeom>
          <a:noFill/>
          <a:ln/>
        </p:spPr>
        <p:txBody>
          <a:bodyPr wrap="square" rtlCol="0" anchor="ctr"/>
          <a:lstStyle/>
          <a:p>
            <a:pPr indent="0" marL="0">
              <a:buNone/>
            </a:pPr>
            <a:r>
              <a:rPr lang="en-US" sz="1350" dirty="0">
                <a:solidFill>
                  <a:srgbClr val="1E2233"/>
                </a:solidFill>
                <a:latin typeface="Calibri" pitchFamily="34" charset="0"/>
                <a:ea typeface="Calibri" pitchFamily="34" charset="-122"/>
                <a:cs typeface="Calibri" pitchFamily="34" charset="-120"/>
              </a:rPr>
              <a:t>Orders  ·  Order Items  ·  Products  ·  Customers  ·  Sellers  ·  Payments  ·  Reviews</a:t>
            </a:r>
            <a:endParaRPr lang="en-US" sz="1350" dirty="0"/>
          </a:p>
        </p:txBody>
      </p:sp>
      <p:sp>
        <p:nvSpPr>
          <p:cNvPr id="22" name="Shape 20"/>
          <p:cNvSpPr/>
          <p:nvPr/>
        </p:nvSpPr>
        <p:spPr>
          <a:xfrm>
            <a:off x="548640" y="4800600"/>
            <a:ext cx="11064240" cy="1463040"/>
          </a:xfrm>
          <a:prstGeom prst="roundRect">
            <a:avLst>
              <a:gd name="adj" fmla="val 5000"/>
            </a:avLst>
          </a:prstGeom>
          <a:solidFill>
            <a:srgbClr val="EEF3FC"/>
          </a:solidFill>
          <a:ln w="12700">
            <a:solidFill>
              <a:srgbClr val="EEF3FC"/>
            </a:solidFill>
            <a:prstDash val="solid"/>
          </a:ln>
        </p:spPr>
      </p:sp>
      <p:sp>
        <p:nvSpPr>
          <p:cNvPr id="23" name="Text 21"/>
          <p:cNvSpPr/>
          <p:nvPr/>
        </p:nvSpPr>
        <p:spPr>
          <a:xfrm>
            <a:off x="868680" y="4956048"/>
            <a:ext cx="4572000" cy="27432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Why this dataset fits the problem</a:t>
            </a:r>
            <a:endParaRPr lang="en-US" sz="1100" dirty="0"/>
          </a:p>
        </p:txBody>
      </p:sp>
      <p:sp>
        <p:nvSpPr>
          <p:cNvPr id="24" name="Text 22"/>
          <p:cNvSpPr/>
          <p:nvPr/>
        </p:nvSpPr>
        <p:spPr>
          <a:xfrm>
            <a:off x="868680" y="5230368"/>
            <a:ext cx="10424160" cy="914400"/>
          </a:xfrm>
          <a:prstGeom prst="rect">
            <a:avLst/>
          </a:prstGeom>
          <a:noFill/>
          <a:ln/>
        </p:spPr>
        <p:txBody>
          <a:bodyPr wrap="square" rtlCol="0" anchor="ctr"/>
          <a:lstStyle/>
          <a:p>
            <a:pPr indent="0" marL="0">
              <a:lnSpc>
                <a:spcPts val="1800"/>
              </a:lnSpc>
              <a:buNone/>
            </a:pPr>
            <a:r>
              <a:rPr lang="en-US" sz="1300" dirty="0">
                <a:solidFill>
                  <a:srgbClr val="1E2233"/>
                </a:solidFill>
                <a:latin typeface="Calibri" pitchFamily="34" charset="0"/>
                <a:ea typeface="Calibri" pitchFamily="34" charset="-122"/>
                <a:cs typeface="Calibri" pitchFamily="34" charset="-120"/>
              </a:rPr>
              <a:t>Order-level granularity across products, sellers, geography, and payments makes it possible to trace revenue and cost drivers down to a single line item — exactly what a margin root-cause analysis requires.</a:t>
            </a:r>
            <a:endParaRPr lang="en-US" sz="1300" dirty="0"/>
          </a:p>
        </p:txBody>
      </p:sp>
      <p:sp>
        <p:nvSpPr>
          <p:cNvPr id="25" name="Text 23"/>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Data Preparation &amp; Engineered Metrics</a:t>
            </a:r>
            <a:endParaRPr lang="en-US" sz="2800" dirty="0"/>
          </a:p>
        </p:txBody>
      </p:sp>
      <p:sp>
        <p:nvSpPr>
          <p:cNvPr id="3" name="Shape 1"/>
          <p:cNvSpPr/>
          <p:nvPr/>
        </p:nvSpPr>
        <p:spPr>
          <a:xfrm>
            <a:off x="548640" y="1554480"/>
            <a:ext cx="5394960" cy="4480560"/>
          </a:xfrm>
          <a:prstGeom prst="roundRect">
            <a:avLst>
              <a:gd name="adj" fmla="val 1633"/>
            </a:avLst>
          </a:prstGeom>
          <a:solidFill>
            <a:srgbClr val="F7F8FB"/>
          </a:solidFill>
          <a:ln w="12700">
            <a:solidFill>
              <a:srgbClr val="E6E9F0"/>
            </a:solidFill>
            <a:prstDash val="solid"/>
          </a:ln>
        </p:spPr>
      </p:sp>
      <p:sp>
        <p:nvSpPr>
          <p:cNvPr id="4" name="Text 2"/>
          <p:cNvSpPr/>
          <p:nvPr/>
        </p:nvSpPr>
        <p:spPr>
          <a:xfrm>
            <a:off x="868680" y="1783080"/>
            <a:ext cx="4754880" cy="320040"/>
          </a:xfrm>
          <a:prstGeom prst="rect">
            <a:avLst/>
          </a:prstGeom>
          <a:noFill/>
          <a:ln/>
        </p:spPr>
        <p:txBody>
          <a:bodyPr wrap="square"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CLEANING STEPS</a:t>
            </a:r>
            <a:endParaRPr lang="en-US" sz="1100" dirty="0"/>
          </a:p>
        </p:txBody>
      </p:sp>
      <p:sp>
        <p:nvSpPr>
          <p:cNvPr id="5" name="Text 3"/>
          <p:cNvSpPr/>
          <p:nvPr/>
        </p:nvSpPr>
        <p:spPr>
          <a:xfrm>
            <a:off x="868680" y="2194560"/>
            <a:ext cx="4754880" cy="3657600"/>
          </a:xfrm>
          <a:prstGeom prst="rect">
            <a:avLst/>
          </a:prstGeom>
          <a:noFill/>
          <a:ln/>
        </p:spPr>
        <p:txBody>
          <a:bodyPr wrap="square" rtlCol="0" anchor="ctr"/>
          <a:lstStyle/>
          <a:p>
            <a:pPr marL="228600" indent="-228600">
              <a:lnSpc>
                <a:spcPts val="20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Merged Orders, Order Items, Products, Customers, Sellers, Payments and Reviews into one analytical table.</a:t>
            </a:r>
            <a:endParaRPr lang="en-US" sz="1300" dirty="0"/>
          </a:p>
          <a:p>
            <a:pPr marL="228600" indent="-228600">
              <a:lnSpc>
                <a:spcPts val="20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Removed duplicate records.</a:t>
            </a:r>
            <a:endParaRPr lang="en-US" sz="1300" dirty="0"/>
          </a:p>
          <a:p>
            <a:pPr marL="228600" indent="-228600">
              <a:lnSpc>
                <a:spcPts val="20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Handled missing values.</a:t>
            </a:r>
            <a:endParaRPr lang="en-US" sz="1300" dirty="0"/>
          </a:p>
          <a:p>
            <a:pPr marL="228600" indent="-228600">
              <a:lnSpc>
                <a:spcPts val="20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Converted date columns into proper datetime format.</a:t>
            </a:r>
            <a:endParaRPr lang="en-US" sz="1300" dirty="0"/>
          </a:p>
          <a:p>
            <a:pPr marL="228600" indent="-228600">
              <a:lnSpc>
                <a:spcPts val="20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Removed invalid records where appropriate (e.g. broken keys, orphaned rows).</a:t>
            </a:r>
            <a:endParaRPr lang="en-US" sz="1300" dirty="0"/>
          </a:p>
        </p:txBody>
      </p:sp>
      <p:sp>
        <p:nvSpPr>
          <p:cNvPr id="6" name="Shape 4"/>
          <p:cNvSpPr/>
          <p:nvPr/>
        </p:nvSpPr>
        <p:spPr>
          <a:xfrm>
            <a:off x="6217920" y="1554480"/>
            <a:ext cx="5394960" cy="4480560"/>
          </a:xfrm>
          <a:prstGeom prst="roundRect">
            <a:avLst>
              <a:gd name="adj" fmla="val 1633"/>
            </a:avLst>
          </a:prstGeom>
          <a:solidFill>
            <a:srgbClr val="1E2761"/>
          </a:solidFill>
          <a:ln w="12700">
            <a:solidFill>
              <a:srgbClr val="1E2761"/>
            </a:solidFill>
            <a:prstDash val="solid"/>
          </a:ln>
        </p:spPr>
      </p:sp>
      <p:sp>
        <p:nvSpPr>
          <p:cNvPr id="7" name="Text 5"/>
          <p:cNvSpPr/>
          <p:nvPr/>
        </p:nvSpPr>
        <p:spPr>
          <a:xfrm>
            <a:off x="6537960" y="1783080"/>
            <a:ext cx="4754880" cy="320040"/>
          </a:xfrm>
          <a:prstGeom prst="rect">
            <a:avLst/>
          </a:prstGeom>
          <a:noFill/>
          <a:ln/>
        </p:spPr>
        <p:txBody>
          <a:bodyPr wrap="square" rtlCol="0" anchor="ctr"/>
          <a:lstStyle/>
          <a:p>
            <a:pPr indent="0" marL="0">
              <a:buNone/>
            </a:pPr>
            <a:r>
              <a:rPr lang="en-US" sz="1100" b="1" spc="100" kern="0" dirty="0">
                <a:solidFill>
                  <a:srgbClr val="D9614F"/>
                </a:solidFill>
                <a:latin typeface="Calibri" pitchFamily="34" charset="0"/>
                <a:ea typeface="Calibri" pitchFamily="34" charset="-122"/>
                <a:cs typeface="Calibri" pitchFamily="34" charset="-120"/>
              </a:rPr>
              <a:t>METRICS ENGINEERED</a:t>
            </a:r>
            <a:endParaRPr lang="en-US" sz="1100" dirty="0"/>
          </a:p>
        </p:txBody>
      </p:sp>
      <p:sp>
        <p:nvSpPr>
          <p:cNvPr id="8" name="Text 6"/>
          <p:cNvSpPr/>
          <p:nvPr/>
        </p:nvSpPr>
        <p:spPr>
          <a:xfrm>
            <a:off x="6537960" y="2194560"/>
            <a:ext cx="4754880" cy="3657600"/>
          </a:xfrm>
          <a:prstGeom prst="rect">
            <a:avLst/>
          </a:prstGeom>
          <a:noFill/>
          <a:ln/>
        </p:spPr>
        <p:txBody>
          <a:bodyPr wrap="square" rtlCol="0" anchor="ctr"/>
          <a:lstStyle/>
          <a:p>
            <a:pPr marL="228600" indent="-228600">
              <a:lnSpc>
                <a:spcPts val="2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Revenue, Profit, Profit Margin</a:t>
            </a:r>
            <a:endParaRPr lang="en-US" sz="1300" dirty="0"/>
          </a:p>
          <a:p>
            <a:pPr marL="228600" indent="-228600">
              <a:lnSpc>
                <a:spcPts val="2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Product Cost (modeled as 65% of Revenue — see Limitations)</a:t>
            </a:r>
            <a:endParaRPr lang="en-US" sz="1300" dirty="0"/>
          </a:p>
          <a:p>
            <a:pPr marL="228600" indent="-228600">
              <a:lnSpc>
                <a:spcPts val="2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Shipping Cost</a:t>
            </a:r>
            <a:endParaRPr lang="en-US" sz="1300" dirty="0"/>
          </a:p>
          <a:p>
            <a:pPr marL="228600" indent="-228600">
              <a:lnSpc>
                <a:spcPts val="2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Delivery Days, Delivery Delay</a:t>
            </a:r>
            <a:endParaRPr lang="en-US" sz="1300" dirty="0"/>
          </a:p>
          <a:p>
            <a:pPr marL="228600" indent="-228600">
              <a:lnSpc>
                <a:spcPts val="2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Order Month, Order Year, Order Day</a:t>
            </a:r>
            <a:endParaRPr lang="en-US" sz="1300" dirty="0"/>
          </a:p>
        </p:txBody>
      </p:sp>
      <p:sp>
        <p:nvSpPr>
          <p:cNvPr id="9" name="Text 7"/>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10" name="Text 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KPI Summary</a:t>
            </a:r>
            <a:endParaRPr lang="en-US" sz="2800" dirty="0"/>
          </a:p>
        </p:txBody>
      </p:sp>
      <p:sp>
        <p:nvSpPr>
          <p:cNvPr id="3" name="Text 1"/>
          <p:cNvSpPr/>
          <p:nvPr/>
        </p:nvSpPr>
        <p:spPr>
          <a:xfrm>
            <a:off x="548640" y="868680"/>
            <a:ext cx="10515600" cy="36576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Full-dataset business metrics</a:t>
            </a:r>
            <a:endParaRPr lang="en-US" sz="1300" dirty="0"/>
          </a:p>
        </p:txBody>
      </p:sp>
      <p:sp>
        <p:nvSpPr>
          <p:cNvPr id="4" name="Shape 2"/>
          <p:cNvSpPr/>
          <p:nvPr/>
        </p:nvSpPr>
        <p:spPr>
          <a:xfrm>
            <a:off x="548640" y="1691640"/>
            <a:ext cx="2084832" cy="1965960"/>
          </a:xfrm>
          <a:prstGeom prst="roundRect">
            <a:avLst>
              <a:gd name="adj" fmla="val 4186"/>
            </a:avLst>
          </a:prstGeom>
          <a:solidFill>
            <a:srgbClr val="EEF3FC"/>
          </a:solidFill>
          <a:ln w="12700">
            <a:solidFill>
              <a:srgbClr val="EEF3FC"/>
            </a:solidFill>
            <a:prstDash val="solid"/>
          </a:ln>
          <a:effectLst>
            <a:outerShdw sx="100000" sy="100000" kx="0" ky="0" algn="bl" rotWithShape="0" blurRad="76200" dist="25400" dir="5400000">
              <a:srgbClr val="1E2761">
                <a:alpha val="12000"/>
              </a:srgbClr>
            </a:outerShdw>
          </a:effectLst>
        </p:spPr>
      </p:sp>
      <p:sp>
        <p:nvSpPr>
          <p:cNvPr id="5" name="Text 3"/>
          <p:cNvSpPr/>
          <p:nvPr/>
        </p:nvSpPr>
        <p:spPr>
          <a:xfrm>
            <a:off x="658368" y="1801368"/>
            <a:ext cx="1865376" cy="1081278"/>
          </a:xfrm>
          <a:prstGeom prst="rect">
            <a:avLst/>
          </a:prstGeom>
          <a:noFill/>
          <a:ln/>
        </p:spPr>
        <p:txBody>
          <a:bodyPr wrap="square" rtlCol="0" anchor="b"/>
          <a:lstStyle/>
          <a:p>
            <a:pPr algn="l" indent="0" marL="0">
              <a:buNone/>
            </a:pPr>
            <a:r>
              <a:rPr lang="en-US" sz="2200" b="1" dirty="0">
                <a:solidFill>
                  <a:srgbClr val="1E2761"/>
                </a:solidFill>
                <a:latin typeface="Cambria" pitchFamily="34" charset="0"/>
                <a:ea typeface="Cambria" pitchFamily="34" charset="-122"/>
                <a:cs typeface="Cambria" pitchFamily="34" charset="-120"/>
              </a:rPr>
              <a:t>R$ 13,221,498</a:t>
            </a:r>
            <a:endParaRPr lang="en-US" sz="2200" dirty="0"/>
          </a:p>
        </p:txBody>
      </p:sp>
      <p:sp>
        <p:nvSpPr>
          <p:cNvPr id="6" name="Text 4"/>
          <p:cNvSpPr/>
          <p:nvPr/>
        </p:nvSpPr>
        <p:spPr>
          <a:xfrm>
            <a:off x="658368" y="2871216"/>
            <a:ext cx="1865376" cy="688086"/>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Revenue</a:t>
            </a:r>
            <a:endParaRPr lang="en-US" sz="1100" dirty="0"/>
          </a:p>
        </p:txBody>
      </p:sp>
      <p:sp>
        <p:nvSpPr>
          <p:cNvPr id="7" name="Shape 5"/>
          <p:cNvSpPr/>
          <p:nvPr/>
        </p:nvSpPr>
        <p:spPr>
          <a:xfrm>
            <a:off x="2770632" y="1691640"/>
            <a:ext cx="2084832" cy="1965960"/>
          </a:xfrm>
          <a:prstGeom prst="roundRect">
            <a:avLst>
              <a:gd name="adj" fmla="val 4186"/>
            </a:avLst>
          </a:prstGeom>
          <a:solidFill>
            <a:srgbClr val="FFFFFF"/>
          </a:solidFill>
          <a:ln w="12700">
            <a:solidFill>
              <a:srgbClr val="FFFFFF"/>
            </a:solidFill>
            <a:prstDash val="solid"/>
          </a:ln>
          <a:effectLst>
            <a:outerShdw sx="100000" sy="100000" kx="0" ky="0" algn="bl" rotWithShape="0" blurRad="76200" dist="25400" dir="5400000">
              <a:srgbClr val="1E2761">
                <a:alpha val="12000"/>
              </a:srgbClr>
            </a:outerShdw>
          </a:effectLst>
        </p:spPr>
      </p:sp>
      <p:sp>
        <p:nvSpPr>
          <p:cNvPr id="8" name="Text 6"/>
          <p:cNvSpPr/>
          <p:nvPr/>
        </p:nvSpPr>
        <p:spPr>
          <a:xfrm>
            <a:off x="2880360" y="1801368"/>
            <a:ext cx="1865376" cy="1081278"/>
          </a:xfrm>
          <a:prstGeom prst="rect">
            <a:avLst/>
          </a:prstGeom>
          <a:noFill/>
          <a:ln/>
        </p:spPr>
        <p:txBody>
          <a:bodyPr wrap="square" rtlCol="0" anchor="b"/>
          <a:lstStyle/>
          <a:p>
            <a:pPr algn="l" indent="0" marL="0">
              <a:buNone/>
            </a:pPr>
            <a:r>
              <a:rPr lang="en-US" sz="2200" b="1" dirty="0">
                <a:solidFill>
                  <a:srgbClr val="5B6478"/>
                </a:solidFill>
                <a:latin typeface="Cambria" pitchFamily="34" charset="0"/>
                <a:ea typeface="Cambria" pitchFamily="34" charset="-122"/>
                <a:cs typeface="Cambria" pitchFamily="34" charset="-120"/>
              </a:rPr>
              <a:t>R$ 8,584,013</a:t>
            </a:r>
            <a:endParaRPr lang="en-US" sz="2200" dirty="0"/>
          </a:p>
        </p:txBody>
      </p:sp>
      <p:sp>
        <p:nvSpPr>
          <p:cNvPr id="9" name="Text 7"/>
          <p:cNvSpPr/>
          <p:nvPr/>
        </p:nvSpPr>
        <p:spPr>
          <a:xfrm>
            <a:off x="2880360" y="2871216"/>
            <a:ext cx="1865376" cy="688086"/>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Estimated Product Cost</a:t>
            </a:r>
            <a:endParaRPr lang="en-US" sz="1100" dirty="0"/>
          </a:p>
        </p:txBody>
      </p:sp>
      <p:sp>
        <p:nvSpPr>
          <p:cNvPr id="10" name="Shape 8"/>
          <p:cNvSpPr/>
          <p:nvPr/>
        </p:nvSpPr>
        <p:spPr>
          <a:xfrm>
            <a:off x="4992624" y="1691640"/>
            <a:ext cx="2084832" cy="1965960"/>
          </a:xfrm>
          <a:prstGeom prst="roundRect">
            <a:avLst>
              <a:gd name="adj" fmla="val 4186"/>
            </a:avLst>
          </a:prstGeom>
          <a:solidFill>
            <a:srgbClr val="FBE7E3"/>
          </a:solidFill>
          <a:ln w="12700">
            <a:solidFill>
              <a:srgbClr val="FBE7E3"/>
            </a:solidFill>
            <a:prstDash val="solid"/>
          </a:ln>
          <a:effectLst>
            <a:outerShdw sx="100000" sy="100000" kx="0" ky="0" algn="bl" rotWithShape="0" blurRad="76200" dist="25400" dir="5400000">
              <a:srgbClr val="1E2761">
                <a:alpha val="12000"/>
              </a:srgbClr>
            </a:outerShdw>
          </a:effectLst>
        </p:spPr>
      </p:sp>
      <p:sp>
        <p:nvSpPr>
          <p:cNvPr id="11" name="Text 9"/>
          <p:cNvSpPr/>
          <p:nvPr/>
        </p:nvSpPr>
        <p:spPr>
          <a:xfrm>
            <a:off x="5102352" y="1801368"/>
            <a:ext cx="1865376" cy="1081278"/>
          </a:xfrm>
          <a:prstGeom prst="rect">
            <a:avLst/>
          </a:prstGeom>
          <a:noFill/>
          <a:ln/>
        </p:spPr>
        <p:txBody>
          <a:bodyPr wrap="square" rtlCol="0" anchor="b"/>
          <a:lstStyle/>
          <a:p>
            <a:pPr algn="l" indent="0" marL="0">
              <a:buNone/>
            </a:pPr>
            <a:r>
              <a:rPr lang="en-US" sz="2200" b="1" dirty="0">
                <a:solidFill>
                  <a:srgbClr val="D9614F"/>
                </a:solidFill>
                <a:latin typeface="Cambria" pitchFamily="34" charset="0"/>
                <a:ea typeface="Cambria" pitchFamily="34" charset="-122"/>
                <a:cs typeface="Cambria" pitchFamily="34" charset="-120"/>
              </a:rPr>
              <a:t>R$ 2,198,276</a:t>
            </a:r>
            <a:endParaRPr lang="en-US" sz="2200" dirty="0"/>
          </a:p>
        </p:txBody>
      </p:sp>
      <p:sp>
        <p:nvSpPr>
          <p:cNvPr id="12" name="Text 10"/>
          <p:cNvSpPr/>
          <p:nvPr/>
        </p:nvSpPr>
        <p:spPr>
          <a:xfrm>
            <a:off x="5102352" y="2871216"/>
            <a:ext cx="1865376" cy="688086"/>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Shipping Cost</a:t>
            </a:r>
            <a:endParaRPr lang="en-US" sz="1100" dirty="0"/>
          </a:p>
        </p:txBody>
      </p:sp>
      <p:sp>
        <p:nvSpPr>
          <p:cNvPr id="13" name="Shape 11"/>
          <p:cNvSpPr/>
          <p:nvPr/>
        </p:nvSpPr>
        <p:spPr>
          <a:xfrm>
            <a:off x="7214616" y="1691640"/>
            <a:ext cx="2084832" cy="1965960"/>
          </a:xfrm>
          <a:prstGeom prst="roundRect">
            <a:avLst>
              <a:gd name="adj" fmla="val 4186"/>
            </a:avLst>
          </a:prstGeom>
          <a:solidFill>
            <a:srgbClr val="E2EFF2"/>
          </a:solidFill>
          <a:ln w="12700">
            <a:solidFill>
              <a:srgbClr val="E2EFF2"/>
            </a:solidFill>
            <a:prstDash val="solid"/>
          </a:ln>
          <a:effectLst>
            <a:outerShdw sx="100000" sy="100000" kx="0" ky="0" algn="bl" rotWithShape="0" blurRad="76200" dist="25400" dir="5400000">
              <a:srgbClr val="1E2761">
                <a:alpha val="12000"/>
              </a:srgbClr>
            </a:outerShdw>
          </a:effectLst>
        </p:spPr>
      </p:sp>
      <p:sp>
        <p:nvSpPr>
          <p:cNvPr id="14" name="Text 12"/>
          <p:cNvSpPr/>
          <p:nvPr/>
        </p:nvSpPr>
        <p:spPr>
          <a:xfrm>
            <a:off x="7324344" y="1801368"/>
            <a:ext cx="1865376" cy="1081278"/>
          </a:xfrm>
          <a:prstGeom prst="rect">
            <a:avLst/>
          </a:prstGeom>
          <a:noFill/>
          <a:ln/>
        </p:spPr>
        <p:txBody>
          <a:bodyPr wrap="square" rtlCol="0" anchor="b"/>
          <a:lstStyle/>
          <a:p>
            <a:pPr algn="l" indent="0" marL="0">
              <a:buNone/>
            </a:pPr>
            <a:r>
              <a:rPr lang="en-US" sz="2200" b="1" dirty="0">
                <a:solidFill>
                  <a:srgbClr val="1C7293"/>
                </a:solidFill>
                <a:latin typeface="Cambria" pitchFamily="34" charset="0"/>
                <a:ea typeface="Cambria" pitchFamily="34" charset="-122"/>
                <a:cs typeface="Cambria" pitchFamily="34" charset="-120"/>
              </a:rPr>
              <a:t>R$ 2,439,209</a:t>
            </a:r>
            <a:endParaRPr lang="en-US" sz="2200" dirty="0"/>
          </a:p>
        </p:txBody>
      </p:sp>
      <p:sp>
        <p:nvSpPr>
          <p:cNvPr id="15" name="Text 13"/>
          <p:cNvSpPr/>
          <p:nvPr/>
        </p:nvSpPr>
        <p:spPr>
          <a:xfrm>
            <a:off x="7324344" y="2871216"/>
            <a:ext cx="1865376" cy="688086"/>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Estimated Profit</a:t>
            </a:r>
            <a:endParaRPr lang="en-US" sz="1100" dirty="0"/>
          </a:p>
        </p:txBody>
      </p:sp>
      <p:sp>
        <p:nvSpPr>
          <p:cNvPr id="16" name="Shape 14"/>
          <p:cNvSpPr/>
          <p:nvPr/>
        </p:nvSpPr>
        <p:spPr>
          <a:xfrm>
            <a:off x="9436608" y="1691640"/>
            <a:ext cx="2084832" cy="1965960"/>
          </a:xfrm>
          <a:prstGeom prst="roundRect">
            <a:avLst>
              <a:gd name="adj" fmla="val 4186"/>
            </a:avLst>
          </a:prstGeom>
          <a:solidFill>
            <a:srgbClr val="E2EFF2"/>
          </a:solidFill>
          <a:ln w="12700">
            <a:solidFill>
              <a:srgbClr val="E2EFF2"/>
            </a:solidFill>
            <a:prstDash val="solid"/>
          </a:ln>
          <a:effectLst>
            <a:outerShdw sx="100000" sy="100000" kx="0" ky="0" algn="bl" rotWithShape="0" blurRad="76200" dist="25400" dir="5400000">
              <a:srgbClr val="1E2761">
                <a:alpha val="12000"/>
              </a:srgbClr>
            </a:outerShdw>
          </a:effectLst>
        </p:spPr>
      </p:sp>
      <p:sp>
        <p:nvSpPr>
          <p:cNvPr id="17" name="Text 15"/>
          <p:cNvSpPr/>
          <p:nvPr/>
        </p:nvSpPr>
        <p:spPr>
          <a:xfrm>
            <a:off x="9546336" y="1801368"/>
            <a:ext cx="1865376" cy="1081278"/>
          </a:xfrm>
          <a:prstGeom prst="rect">
            <a:avLst/>
          </a:prstGeom>
          <a:noFill/>
          <a:ln/>
        </p:spPr>
        <p:txBody>
          <a:bodyPr wrap="square" rtlCol="0" anchor="b"/>
          <a:lstStyle/>
          <a:p>
            <a:pPr algn="l" indent="0" marL="0">
              <a:buNone/>
            </a:pPr>
            <a:r>
              <a:rPr lang="en-US" sz="2200" b="1" dirty="0">
                <a:solidFill>
                  <a:srgbClr val="1C7293"/>
                </a:solidFill>
                <a:latin typeface="Cambria" pitchFamily="34" charset="0"/>
                <a:ea typeface="Cambria" pitchFamily="34" charset="-122"/>
                <a:cs typeface="Cambria" pitchFamily="34" charset="-120"/>
              </a:rPr>
              <a:t>18.45%</a:t>
            </a:r>
            <a:endParaRPr lang="en-US" sz="2200" dirty="0"/>
          </a:p>
        </p:txBody>
      </p:sp>
      <p:sp>
        <p:nvSpPr>
          <p:cNvPr id="18" name="Text 16"/>
          <p:cNvSpPr/>
          <p:nvPr/>
        </p:nvSpPr>
        <p:spPr>
          <a:xfrm>
            <a:off x="9546336" y="2871216"/>
            <a:ext cx="1865376" cy="688086"/>
          </a:xfrm>
          <a:prstGeom prst="rect">
            <a:avLst/>
          </a:prstGeom>
          <a:noFill/>
          <a:ln/>
        </p:spPr>
        <p:txBody>
          <a:bodyPr wrap="square"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Profit Margin</a:t>
            </a:r>
            <a:endParaRPr lang="en-US" sz="1100" dirty="0"/>
          </a:p>
        </p:txBody>
      </p:sp>
      <p:sp>
        <p:nvSpPr>
          <p:cNvPr id="19" name="Shape 17"/>
          <p:cNvSpPr/>
          <p:nvPr/>
        </p:nvSpPr>
        <p:spPr>
          <a:xfrm>
            <a:off x="548640" y="3977640"/>
            <a:ext cx="11064240" cy="2148840"/>
          </a:xfrm>
          <a:prstGeom prst="roundRect">
            <a:avLst>
              <a:gd name="adj" fmla="val 3404"/>
            </a:avLst>
          </a:prstGeom>
          <a:solidFill>
            <a:srgbClr val="FFFFFF"/>
          </a:solidFill>
          <a:ln w="12700">
            <a:solidFill>
              <a:srgbClr val="E6E9F0"/>
            </a:solidFill>
            <a:prstDash val="solid"/>
          </a:ln>
        </p:spPr>
      </p:sp>
      <p:sp>
        <p:nvSpPr>
          <p:cNvPr id="20" name="Text 18"/>
          <p:cNvSpPr/>
          <p:nvPr/>
        </p:nvSpPr>
        <p:spPr>
          <a:xfrm>
            <a:off x="868680" y="4160520"/>
            <a:ext cx="548640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How the numbers connect</a:t>
            </a:r>
            <a:endParaRPr lang="en-US" sz="1200" dirty="0"/>
          </a:p>
        </p:txBody>
      </p:sp>
      <p:sp>
        <p:nvSpPr>
          <p:cNvPr id="21" name="Text 19"/>
          <p:cNvSpPr/>
          <p:nvPr/>
        </p:nvSpPr>
        <p:spPr>
          <a:xfrm>
            <a:off x="868680" y="4526280"/>
            <a:ext cx="1042416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Revenue  −  Product Cost (65% of Revenue)  −  Shipping Cost  =  Profit</a:t>
            </a:r>
            <a:endParaRPr lang="en-US" sz="1600" dirty="0"/>
          </a:p>
        </p:txBody>
      </p:sp>
      <p:sp>
        <p:nvSpPr>
          <p:cNvPr id="22" name="Text 20"/>
          <p:cNvSpPr/>
          <p:nvPr/>
        </p:nvSpPr>
        <p:spPr>
          <a:xfrm>
            <a:off x="868680" y="5029200"/>
            <a:ext cx="10424160" cy="960120"/>
          </a:xfrm>
          <a:prstGeom prst="rect">
            <a:avLst/>
          </a:prstGeom>
          <a:noFill/>
          <a:ln/>
        </p:spPr>
        <p:txBody>
          <a:bodyPr wrap="square" rtlCol="0" anchor="ctr"/>
          <a:lstStyle/>
          <a:p>
            <a:pPr indent="0" marL="0">
              <a:lnSpc>
                <a:spcPts val="1800"/>
              </a:lnSpc>
              <a:buNone/>
            </a:pPr>
            <a:r>
              <a:rPr lang="en-US" sz="1300" dirty="0">
                <a:solidFill>
                  <a:srgbClr val="1E2233"/>
                </a:solidFill>
                <a:latin typeface="Calibri" pitchFamily="34" charset="0"/>
                <a:ea typeface="Calibri" pitchFamily="34" charset="-122"/>
                <a:cs typeface="Calibri" pitchFamily="34" charset="-120"/>
              </a:rPr>
              <a:t>Because product cost is fixed at 65% of revenue for every order, Profit Margin simplifies to 35% minus Shipping Cost as a share of Revenue. Shipping is therefore the only variable that can move margin in this model — which is exactly why the rest of this deck focuses on it.</a:t>
            </a:r>
            <a:endParaRPr lang="en-US" sz="1300" dirty="0"/>
          </a:p>
        </p:txBody>
      </p:sp>
      <p:sp>
        <p:nvSpPr>
          <p:cNvPr id="23" name="Text 21"/>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24" name="Text 2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Revenue Analysis</a:t>
            </a:r>
            <a:endParaRPr lang="en-US" sz="2800" dirty="0"/>
          </a:p>
        </p:txBody>
      </p:sp>
      <p:sp>
        <p:nvSpPr>
          <p:cNvPr id="3" name="Shape 1"/>
          <p:cNvSpPr/>
          <p:nvPr/>
        </p:nvSpPr>
        <p:spPr>
          <a:xfrm>
            <a:off x="548640" y="1554480"/>
            <a:ext cx="5760720" cy="4480560"/>
          </a:xfrm>
          <a:prstGeom prst="roundRect">
            <a:avLst>
              <a:gd name="adj" fmla="val 1633"/>
            </a:avLst>
          </a:prstGeom>
          <a:solidFill>
            <a:srgbClr val="F7F8FB"/>
          </a:solidFill>
          <a:ln w="12700">
            <a:solidFill>
              <a:srgbClr val="E6E9F0"/>
            </a:solidFill>
            <a:prstDash val="solid"/>
          </a:ln>
        </p:spPr>
      </p:sp>
      <p:sp>
        <p:nvSpPr>
          <p:cNvPr id="4" name="Text 2"/>
          <p:cNvSpPr/>
          <p:nvPr/>
        </p:nvSpPr>
        <p:spPr>
          <a:xfrm>
            <a:off x="868680" y="1783080"/>
            <a:ext cx="5120640" cy="320040"/>
          </a:xfrm>
          <a:prstGeom prst="rect">
            <a:avLst/>
          </a:prstGeom>
          <a:noFill/>
          <a:ln/>
        </p:spPr>
        <p:txBody>
          <a:bodyPr wrap="square"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TOP REVENUE CATEGORIES</a:t>
            </a:r>
            <a:endParaRPr lang="en-US" sz="1100" dirty="0"/>
          </a:p>
        </p:txBody>
      </p:sp>
      <p:sp>
        <p:nvSpPr>
          <p:cNvPr id="5" name="Shape 3"/>
          <p:cNvSpPr/>
          <p:nvPr/>
        </p:nvSpPr>
        <p:spPr>
          <a:xfrm>
            <a:off x="868680" y="2240280"/>
            <a:ext cx="457200" cy="457200"/>
          </a:xfrm>
          <a:prstGeom prst="ellipse">
            <a:avLst/>
          </a:prstGeom>
          <a:solidFill>
            <a:srgbClr val="1E2761"/>
          </a:solidFill>
          <a:ln/>
        </p:spPr>
      </p:sp>
      <p:sp>
        <p:nvSpPr>
          <p:cNvPr id="6" name="Text 4"/>
          <p:cNvSpPr/>
          <p:nvPr/>
        </p:nvSpPr>
        <p:spPr>
          <a:xfrm>
            <a:off x="868680" y="224028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463040" y="2295144"/>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Health &amp; Beauty</a:t>
            </a:r>
            <a:endParaRPr lang="en-US" sz="1400" dirty="0"/>
          </a:p>
        </p:txBody>
      </p:sp>
      <p:sp>
        <p:nvSpPr>
          <p:cNvPr id="8" name="Shape 6"/>
          <p:cNvSpPr/>
          <p:nvPr/>
        </p:nvSpPr>
        <p:spPr>
          <a:xfrm>
            <a:off x="868680" y="2898648"/>
            <a:ext cx="457200" cy="457200"/>
          </a:xfrm>
          <a:prstGeom prst="ellipse">
            <a:avLst/>
          </a:prstGeom>
          <a:solidFill>
            <a:srgbClr val="1E2761"/>
          </a:solidFill>
          <a:ln/>
        </p:spPr>
      </p:sp>
      <p:sp>
        <p:nvSpPr>
          <p:cNvPr id="9" name="Text 7"/>
          <p:cNvSpPr/>
          <p:nvPr/>
        </p:nvSpPr>
        <p:spPr>
          <a:xfrm>
            <a:off x="868680" y="289864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463040" y="2953512"/>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Watches &amp; Gifts</a:t>
            </a:r>
            <a:endParaRPr lang="en-US" sz="1400" dirty="0"/>
          </a:p>
        </p:txBody>
      </p:sp>
      <p:sp>
        <p:nvSpPr>
          <p:cNvPr id="11" name="Shape 9"/>
          <p:cNvSpPr/>
          <p:nvPr/>
        </p:nvSpPr>
        <p:spPr>
          <a:xfrm>
            <a:off x="868680" y="3557016"/>
            <a:ext cx="457200" cy="457200"/>
          </a:xfrm>
          <a:prstGeom prst="ellipse">
            <a:avLst/>
          </a:prstGeom>
          <a:solidFill>
            <a:srgbClr val="1E2761"/>
          </a:solidFill>
          <a:ln/>
        </p:spPr>
      </p:sp>
      <p:sp>
        <p:nvSpPr>
          <p:cNvPr id="12" name="Text 10"/>
          <p:cNvSpPr/>
          <p:nvPr/>
        </p:nvSpPr>
        <p:spPr>
          <a:xfrm>
            <a:off x="868680" y="3557016"/>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p:nvPr/>
        </p:nvSpPr>
        <p:spPr>
          <a:xfrm>
            <a:off x="1463040" y="3611880"/>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Bed, Bath &amp; Table</a:t>
            </a:r>
            <a:endParaRPr lang="en-US" sz="1400" dirty="0"/>
          </a:p>
        </p:txBody>
      </p:sp>
      <p:sp>
        <p:nvSpPr>
          <p:cNvPr id="14" name="Shape 12"/>
          <p:cNvSpPr/>
          <p:nvPr/>
        </p:nvSpPr>
        <p:spPr>
          <a:xfrm>
            <a:off x="868680" y="4215384"/>
            <a:ext cx="457200" cy="457200"/>
          </a:xfrm>
          <a:prstGeom prst="ellipse">
            <a:avLst/>
          </a:prstGeom>
          <a:solidFill>
            <a:srgbClr val="1E2761"/>
          </a:solidFill>
          <a:ln/>
        </p:spPr>
      </p:sp>
      <p:sp>
        <p:nvSpPr>
          <p:cNvPr id="15" name="Text 13"/>
          <p:cNvSpPr/>
          <p:nvPr/>
        </p:nvSpPr>
        <p:spPr>
          <a:xfrm>
            <a:off x="868680" y="4215384"/>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6" name="Text 14"/>
          <p:cNvSpPr/>
          <p:nvPr/>
        </p:nvSpPr>
        <p:spPr>
          <a:xfrm>
            <a:off x="1463040" y="4270248"/>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Sports &amp; Leisure</a:t>
            </a:r>
            <a:endParaRPr lang="en-US" sz="1400" dirty="0"/>
          </a:p>
        </p:txBody>
      </p:sp>
      <p:sp>
        <p:nvSpPr>
          <p:cNvPr id="17" name="Shape 15"/>
          <p:cNvSpPr/>
          <p:nvPr/>
        </p:nvSpPr>
        <p:spPr>
          <a:xfrm>
            <a:off x="868680" y="4873752"/>
            <a:ext cx="457200" cy="457200"/>
          </a:xfrm>
          <a:prstGeom prst="ellipse">
            <a:avLst/>
          </a:prstGeom>
          <a:solidFill>
            <a:srgbClr val="1E2761"/>
          </a:solidFill>
          <a:ln/>
        </p:spPr>
      </p:sp>
      <p:sp>
        <p:nvSpPr>
          <p:cNvPr id="18" name="Text 16"/>
          <p:cNvSpPr/>
          <p:nvPr/>
        </p:nvSpPr>
        <p:spPr>
          <a:xfrm>
            <a:off x="868680" y="4873752"/>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9" name="Text 17"/>
          <p:cNvSpPr/>
          <p:nvPr/>
        </p:nvSpPr>
        <p:spPr>
          <a:xfrm>
            <a:off x="1463040" y="4928616"/>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Computers &amp; Accessories</a:t>
            </a:r>
            <a:endParaRPr lang="en-US" sz="1400" dirty="0"/>
          </a:p>
        </p:txBody>
      </p:sp>
      <p:sp>
        <p:nvSpPr>
          <p:cNvPr id="20" name="Shape 18"/>
          <p:cNvSpPr/>
          <p:nvPr/>
        </p:nvSpPr>
        <p:spPr>
          <a:xfrm>
            <a:off x="6537960" y="1554480"/>
            <a:ext cx="5074920" cy="4480560"/>
          </a:xfrm>
          <a:prstGeom prst="roundRect">
            <a:avLst>
              <a:gd name="adj" fmla="val 1633"/>
            </a:avLst>
          </a:prstGeom>
          <a:solidFill>
            <a:srgbClr val="1C7293"/>
          </a:solidFill>
          <a:ln w="12700">
            <a:solidFill>
              <a:srgbClr val="1C7293"/>
            </a:solidFill>
            <a:prstDash val="solid"/>
          </a:ln>
        </p:spPr>
      </p:sp>
      <p:sp>
        <p:nvSpPr>
          <p:cNvPr id="21" name="Text 19"/>
          <p:cNvSpPr/>
          <p:nvPr/>
        </p:nvSpPr>
        <p:spPr>
          <a:xfrm>
            <a:off x="6858000" y="1783080"/>
            <a:ext cx="4480560" cy="320040"/>
          </a:xfrm>
          <a:prstGeom prst="rect">
            <a:avLst/>
          </a:prstGeom>
          <a:noFill/>
          <a:ln/>
        </p:spPr>
        <p:txBody>
          <a:bodyPr wrap="square" rtlCol="0" anchor="ctr"/>
          <a:lstStyle/>
          <a:p>
            <a:pPr indent="0" marL="0">
              <a:buNone/>
            </a:pPr>
            <a:r>
              <a:rPr lang="en-US" sz="1100" b="1" spc="100" kern="0" dirty="0">
                <a:solidFill>
                  <a:srgbClr val="CADCFC"/>
                </a:solidFill>
                <a:latin typeface="Calibri" pitchFamily="34" charset="0"/>
                <a:ea typeface="Calibri" pitchFamily="34" charset="-122"/>
                <a:cs typeface="Calibri" pitchFamily="34" charset="-120"/>
              </a:rPr>
              <a:t>STATE LEADERSHIP</a:t>
            </a:r>
            <a:endParaRPr lang="en-US" sz="1100" dirty="0"/>
          </a:p>
        </p:txBody>
      </p:sp>
      <p:sp>
        <p:nvSpPr>
          <p:cNvPr id="22" name="Text 20"/>
          <p:cNvSpPr/>
          <p:nvPr/>
        </p:nvSpPr>
        <p:spPr>
          <a:xfrm>
            <a:off x="6858000" y="2148840"/>
            <a:ext cx="448056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São Paulo</a:t>
            </a:r>
            <a:endParaRPr lang="en-US" sz="3200" dirty="0"/>
          </a:p>
        </p:txBody>
      </p:sp>
      <p:sp>
        <p:nvSpPr>
          <p:cNvPr id="23" name="Text 21"/>
          <p:cNvSpPr/>
          <p:nvPr/>
        </p:nvSpPr>
        <p:spPr>
          <a:xfrm>
            <a:off x="6858000" y="2880360"/>
            <a:ext cx="4480560" cy="45720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is the highest-revenue state by a clear margin</a:t>
            </a:r>
            <a:endParaRPr lang="en-US" sz="1300" dirty="0"/>
          </a:p>
        </p:txBody>
      </p:sp>
      <p:sp>
        <p:nvSpPr>
          <p:cNvPr id="24" name="Shape 22"/>
          <p:cNvSpPr/>
          <p:nvPr/>
        </p:nvSpPr>
        <p:spPr>
          <a:xfrm>
            <a:off x="6858000" y="3520440"/>
            <a:ext cx="4434840" cy="0"/>
          </a:xfrm>
          <a:prstGeom prst="line">
            <a:avLst/>
          </a:prstGeom>
          <a:noFill/>
          <a:ln w="12700">
            <a:solidFill>
              <a:srgbClr val="5FA3B8"/>
            </a:solidFill>
            <a:prstDash val="solid"/>
          </a:ln>
        </p:spPr>
      </p:sp>
      <p:sp>
        <p:nvSpPr>
          <p:cNvPr id="25" name="Text 23"/>
          <p:cNvSpPr/>
          <p:nvPr/>
        </p:nvSpPr>
        <p:spPr>
          <a:xfrm>
            <a:off x="6858000" y="3657600"/>
            <a:ext cx="4480560" cy="274320"/>
          </a:xfrm>
          <a:prstGeom prst="rect">
            <a:avLst/>
          </a:prstGeom>
          <a:noFill/>
          <a:ln/>
        </p:spPr>
        <p:txBody>
          <a:bodyPr wrap="square" rtlCol="0" anchor="ctr"/>
          <a:lstStyle/>
          <a:p>
            <a:pPr indent="0" marL="0">
              <a:buNone/>
            </a:pPr>
            <a:r>
              <a:rPr lang="en-US" sz="1050" b="1" spc="100" kern="0" dirty="0">
                <a:solidFill>
                  <a:srgbClr val="CADCFC"/>
                </a:solidFill>
                <a:latin typeface="Calibri" pitchFamily="34" charset="0"/>
                <a:ea typeface="Calibri" pitchFamily="34" charset="-122"/>
                <a:cs typeface="Calibri" pitchFamily="34" charset="-120"/>
              </a:rPr>
              <a:t>Insight</a:t>
            </a:r>
            <a:endParaRPr lang="en-US" sz="1050" dirty="0"/>
          </a:p>
        </p:txBody>
      </p:sp>
      <p:sp>
        <p:nvSpPr>
          <p:cNvPr id="26" name="Text 24"/>
          <p:cNvSpPr/>
          <p:nvPr/>
        </p:nvSpPr>
        <p:spPr>
          <a:xfrm>
            <a:off x="6858000" y="3977640"/>
            <a:ext cx="4480560" cy="1828800"/>
          </a:xfrm>
          <a:prstGeom prst="rect">
            <a:avLst/>
          </a:prstGeom>
          <a:noFill/>
          <a:ln/>
        </p:spPr>
        <p:txBody>
          <a:bodyPr wrap="square"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Revenue growth is broad-based across everyday categories, but geographically concentrated. That concentration matters later: it's also where fulfillment infrastructure is strongest, and shipping cost is lowest.</a:t>
            </a:r>
            <a:endParaRPr lang="en-US" sz="1300" dirty="0"/>
          </a:p>
        </p:txBody>
      </p:sp>
      <p:sp>
        <p:nvSpPr>
          <p:cNvPr id="27" name="Text 25"/>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28" name="Text 2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Profit Analysis</a:t>
            </a:r>
            <a:endParaRPr lang="en-US" sz="2800" dirty="0"/>
          </a:p>
        </p:txBody>
      </p:sp>
      <p:sp>
        <p:nvSpPr>
          <p:cNvPr id="3" name="Shape 1"/>
          <p:cNvSpPr/>
          <p:nvPr/>
        </p:nvSpPr>
        <p:spPr>
          <a:xfrm>
            <a:off x="548640" y="1554480"/>
            <a:ext cx="5760720" cy="4480560"/>
          </a:xfrm>
          <a:prstGeom prst="roundRect">
            <a:avLst>
              <a:gd name="adj" fmla="val 1633"/>
            </a:avLst>
          </a:prstGeom>
          <a:solidFill>
            <a:srgbClr val="FBE7E3"/>
          </a:solidFill>
          <a:ln w="12700">
            <a:solidFill>
              <a:srgbClr val="FBE7E3"/>
            </a:solidFill>
            <a:prstDash val="solid"/>
          </a:ln>
        </p:spPr>
      </p:sp>
      <p:sp>
        <p:nvSpPr>
          <p:cNvPr id="4" name="Text 2"/>
          <p:cNvSpPr/>
          <p:nvPr/>
        </p:nvSpPr>
        <p:spPr>
          <a:xfrm>
            <a:off x="868680" y="1783080"/>
            <a:ext cx="5120640" cy="320040"/>
          </a:xfrm>
          <a:prstGeom prst="rect">
            <a:avLst/>
          </a:prstGeom>
          <a:noFill/>
          <a:ln/>
        </p:spPr>
        <p:txBody>
          <a:bodyPr wrap="square" rtlCol="0" anchor="ctr"/>
          <a:lstStyle/>
          <a:p>
            <a:pPr indent="0" marL="0">
              <a:buNone/>
            </a:pPr>
            <a:r>
              <a:rPr lang="en-US" sz="1100" b="1" spc="100" kern="0" dirty="0">
                <a:solidFill>
                  <a:srgbClr val="D9614F"/>
                </a:solidFill>
                <a:latin typeface="Calibri" pitchFamily="34" charset="0"/>
                <a:ea typeface="Calibri" pitchFamily="34" charset="-122"/>
                <a:cs typeface="Calibri" pitchFamily="34" charset="-120"/>
              </a:rPr>
              <a:t>LOWEST-PROFIT CATEGORIES</a:t>
            </a:r>
            <a:endParaRPr lang="en-US" sz="1100" dirty="0"/>
          </a:p>
        </p:txBody>
      </p:sp>
      <p:sp>
        <p:nvSpPr>
          <p:cNvPr id="5" name="Shape 3"/>
          <p:cNvSpPr/>
          <p:nvPr/>
        </p:nvSpPr>
        <p:spPr>
          <a:xfrm>
            <a:off x="868680" y="2240280"/>
            <a:ext cx="457200" cy="457200"/>
          </a:xfrm>
          <a:prstGeom prst="roundRect">
            <a:avLst>
              <a:gd name="adj" fmla="val 12000"/>
            </a:avLst>
          </a:prstGeom>
          <a:solidFill>
            <a:srgbClr val="D9614F"/>
          </a:solidFill>
          <a:ln/>
        </p:spPr>
      </p:sp>
      <p:sp>
        <p:nvSpPr>
          <p:cNvPr id="6" name="Text 4"/>
          <p:cNvSpPr/>
          <p:nvPr/>
        </p:nvSpPr>
        <p:spPr>
          <a:xfrm>
            <a:off x="868680" y="224028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1463040" y="2295144"/>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Home Comfort 2</a:t>
            </a:r>
            <a:endParaRPr lang="en-US" sz="1400" dirty="0"/>
          </a:p>
        </p:txBody>
      </p:sp>
      <p:sp>
        <p:nvSpPr>
          <p:cNvPr id="8" name="Shape 6"/>
          <p:cNvSpPr/>
          <p:nvPr/>
        </p:nvSpPr>
        <p:spPr>
          <a:xfrm>
            <a:off x="868680" y="2898648"/>
            <a:ext cx="457200" cy="457200"/>
          </a:xfrm>
          <a:prstGeom prst="roundRect">
            <a:avLst>
              <a:gd name="adj" fmla="val 12000"/>
            </a:avLst>
          </a:prstGeom>
          <a:solidFill>
            <a:srgbClr val="D9614F"/>
          </a:solidFill>
          <a:ln/>
        </p:spPr>
      </p:sp>
      <p:sp>
        <p:nvSpPr>
          <p:cNvPr id="9" name="Text 7"/>
          <p:cNvSpPr/>
          <p:nvPr/>
        </p:nvSpPr>
        <p:spPr>
          <a:xfrm>
            <a:off x="868680" y="289864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0" name="Text 8"/>
          <p:cNvSpPr/>
          <p:nvPr/>
        </p:nvSpPr>
        <p:spPr>
          <a:xfrm>
            <a:off x="1463040" y="2953512"/>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Flowers</a:t>
            </a:r>
            <a:endParaRPr lang="en-US" sz="1400" dirty="0"/>
          </a:p>
        </p:txBody>
      </p:sp>
      <p:sp>
        <p:nvSpPr>
          <p:cNvPr id="11" name="Shape 9"/>
          <p:cNvSpPr/>
          <p:nvPr/>
        </p:nvSpPr>
        <p:spPr>
          <a:xfrm>
            <a:off x="868680" y="3557016"/>
            <a:ext cx="457200" cy="457200"/>
          </a:xfrm>
          <a:prstGeom prst="roundRect">
            <a:avLst>
              <a:gd name="adj" fmla="val 12000"/>
            </a:avLst>
          </a:prstGeom>
          <a:solidFill>
            <a:srgbClr val="D9614F"/>
          </a:solidFill>
          <a:ln/>
        </p:spPr>
      </p:sp>
      <p:sp>
        <p:nvSpPr>
          <p:cNvPr id="12" name="Text 10"/>
          <p:cNvSpPr/>
          <p:nvPr/>
        </p:nvSpPr>
        <p:spPr>
          <a:xfrm>
            <a:off x="868680" y="3557016"/>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1463040" y="3611880"/>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Furniture, Mattress &amp; Upholstery</a:t>
            </a:r>
            <a:endParaRPr lang="en-US" sz="1400" dirty="0"/>
          </a:p>
        </p:txBody>
      </p:sp>
      <p:sp>
        <p:nvSpPr>
          <p:cNvPr id="14" name="Shape 12"/>
          <p:cNvSpPr/>
          <p:nvPr/>
        </p:nvSpPr>
        <p:spPr>
          <a:xfrm>
            <a:off x="868680" y="4215384"/>
            <a:ext cx="457200" cy="457200"/>
          </a:xfrm>
          <a:prstGeom prst="roundRect">
            <a:avLst>
              <a:gd name="adj" fmla="val 12000"/>
            </a:avLst>
          </a:prstGeom>
          <a:solidFill>
            <a:srgbClr val="D9614F"/>
          </a:solidFill>
          <a:ln/>
        </p:spPr>
      </p:sp>
      <p:sp>
        <p:nvSpPr>
          <p:cNvPr id="15" name="Text 13"/>
          <p:cNvSpPr/>
          <p:nvPr/>
        </p:nvSpPr>
        <p:spPr>
          <a:xfrm>
            <a:off x="868680" y="4215384"/>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6" name="Text 14"/>
          <p:cNvSpPr/>
          <p:nvPr/>
        </p:nvSpPr>
        <p:spPr>
          <a:xfrm>
            <a:off x="1463040" y="4270248"/>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Christmas Supplies</a:t>
            </a:r>
            <a:endParaRPr lang="en-US" sz="1400" dirty="0"/>
          </a:p>
        </p:txBody>
      </p:sp>
      <p:sp>
        <p:nvSpPr>
          <p:cNvPr id="17" name="Shape 15"/>
          <p:cNvSpPr/>
          <p:nvPr/>
        </p:nvSpPr>
        <p:spPr>
          <a:xfrm>
            <a:off x="868680" y="4873752"/>
            <a:ext cx="457200" cy="457200"/>
          </a:xfrm>
          <a:prstGeom prst="roundRect">
            <a:avLst>
              <a:gd name="adj" fmla="val 12000"/>
            </a:avLst>
          </a:prstGeom>
          <a:solidFill>
            <a:srgbClr val="D9614F"/>
          </a:solidFill>
          <a:ln/>
        </p:spPr>
      </p:sp>
      <p:sp>
        <p:nvSpPr>
          <p:cNvPr id="18" name="Text 16"/>
          <p:cNvSpPr/>
          <p:nvPr/>
        </p:nvSpPr>
        <p:spPr>
          <a:xfrm>
            <a:off x="868680" y="4873752"/>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1463040" y="4928616"/>
            <a:ext cx="4663440" cy="365760"/>
          </a:xfrm>
          <a:prstGeom prst="rect">
            <a:avLst/>
          </a:prstGeom>
          <a:noFill/>
          <a:ln/>
        </p:spPr>
        <p:txBody>
          <a:bodyPr wrap="square" rtlCol="0" anchor="ctr"/>
          <a:lstStyle/>
          <a:p>
            <a:pPr indent="0" marL="0">
              <a:buNone/>
            </a:pPr>
            <a:r>
              <a:rPr lang="en-US" sz="1400" dirty="0">
                <a:solidFill>
                  <a:srgbClr val="1E2233"/>
                </a:solidFill>
                <a:latin typeface="Calibri" pitchFamily="34" charset="0"/>
                <a:ea typeface="Calibri" pitchFamily="34" charset="-122"/>
                <a:cs typeface="Calibri" pitchFamily="34" charset="-120"/>
              </a:rPr>
              <a:t>Diapers &amp; Hygiene</a:t>
            </a:r>
            <a:endParaRPr lang="en-US" sz="1400" dirty="0"/>
          </a:p>
        </p:txBody>
      </p:sp>
      <p:sp>
        <p:nvSpPr>
          <p:cNvPr id="20" name="Shape 18"/>
          <p:cNvSpPr/>
          <p:nvPr/>
        </p:nvSpPr>
        <p:spPr>
          <a:xfrm>
            <a:off x="6537960" y="1554480"/>
            <a:ext cx="5074920" cy="4480560"/>
          </a:xfrm>
          <a:prstGeom prst="roundRect">
            <a:avLst>
              <a:gd name="adj" fmla="val 1633"/>
            </a:avLst>
          </a:prstGeom>
          <a:solidFill>
            <a:srgbClr val="FFFFFF"/>
          </a:solidFill>
          <a:ln w="12700">
            <a:solidFill>
              <a:srgbClr val="E6E9F0"/>
            </a:solidFill>
            <a:prstDash val="solid"/>
          </a:ln>
        </p:spPr>
      </p:sp>
      <p:sp>
        <p:nvSpPr>
          <p:cNvPr id="21" name="Text 19"/>
          <p:cNvSpPr/>
          <p:nvPr/>
        </p:nvSpPr>
        <p:spPr>
          <a:xfrm>
            <a:off x="6858000" y="1783080"/>
            <a:ext cx="4480560" cy="548640"/>
          </a:xfrm>
          <a:prstGeom prst="rect">
            <a:avLst/>
          </a:prstGeom>
          <a:noFill/>
          <a:ln/>
        </p:spPr>
        <p:txBody>
          <a:bodyPr wrap="square" rtlCol="0" anchor="ctr"/>
          <a:lstStyle/>
          <a:p>
            <a:pPr indent="0" marL="0">
              <a:buNone/>
            </a:pPr>
            <a:r>
              <a:rPr lang="en-US" sz="1100" b="1" spc="50" kern="0" dirty="0">
                <a:solidFill>
                  <a:srgbClr val="1E2761"/>
                </a:solidFill>
                <a:latin typeface="Calibri" pitchFamily="34" charset="0"/>
                <a:ea typeface="Calibri" pitchFamily="34" charset="-122"/>
                <a:cs typeface="Calibri" pitchFamily="34" charset="-120"/>
              </a:rPr>
              <a:t>WHY REVENUE GROWTH ISN'T TRANSLATING TO PROFIT</a:t>
            </a:r>
            <a:endParaRPr lang="en-US" sz="1100" dirty="0"/>
          </a:p>
        </p:txBody>
      </p:sp>
      <p:sp>
        <p:nvSpPr>
          <p:cNvPr id="22" name="Text 20"/>
          <p:cNvSpPr/>
          <p:nvPr/>
        </p:nvSpPr>
        <p:spPr>
          <a:xfrm>
            <a:off x="6858000" y="2377440"/>
            <a:ext cx="4480560" cy="3474720"/>
          </a:xfrm>
          <a:prstGeom prst="rect">
            <a:avLst/>
          </a:prstGeom>
          <a:noFill/>
          <a:ln/>
        </p:spPr>
        <p:txBody>
          <a:bodyPr wrap="square" rtlCol="0" anchor="ctr"/>
          <a:lstStyle/>
          <a:p>
            <a:pPr marL="228600" indent="-228600">
              <a:lnSpc>
                <a:spcPts val="19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Revenue is growing broadly across categories (Slide 7).</a:t>
            </a:r>
            <a:endParaRPr lang="en-US" sz="1300" dirty="0"/>
          </a:p>
          <a:p>
            <a:pPr marL="228600" indent="-228600">
              <a:lnSpc>
                <a:spcPts val="19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But the lowest-profit categories are dominated by bulky, low-price, or seasonal goods — furniture, flowers, holiday items, baby care.</a:t>
            </a:r>
            <a:endParaRPr lang="en-US" sz="1300" dirty="0"/>
          </a:p>
          <a:p>
            <a:pPr marL="228600" indent="-228600">
              <a:lnSpc>
                <a:spcPts val="19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These are exactly the categories where logistics cost eats hardest into a thin per-order margin.</a:t>
            </a:r>
            <a:endParaRPr lang="en-US" sz="1300" dirty="0"/>
          </a:p>
          <a:p>
            <a:pPr marL="228600" indent="-228600">
              <a:lnSpc>
                <a:spcPts val="1900"/>
              </a:lnSpc>
              <a:spcAft>
                <a:spcPts val="1000"/>
              </a:spcAft>
              <a:buSzPct val="100000"/>
              <a:buChar char="•"/>
            </a:pPr>
            <a:r>
              <a:rPr lang="en-US" sz="1300" dirty="0">
                <a:solidFill>
                  <a:srgbClr val="1E2233"/>
                </a:solidFill>
                <a:latin typeface="Calibri" pitchFamily="34" charset="0"/>
                <a:ea typeface="Calibri" pitchFamily="34" charset="-122"/>
                <a:cs typeface="Calibri" pitchFamily="34" charset="-120"/>
              </a:rPr>
              <a:t>The mix shift toward these categories is a quiet drag on blended profit, even while top-line revenue looks healthy.</a:t>
            </a:r>
            <a:endParaRPr lang="en-US" sz="1300" dirty="0"/>
          </a:p>
        </p:txBody>
      </p:sp>
      <p:sp>
        <p:nvSpPr>
          <p:cNvPr id="23" name="Text 21"/>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24" name="Text 2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Shipping Cost &amp; Regional Analysis</a:t>
            </a:r>
            <a:endParaRPr lang="en-US" sz="2800" dirty="0"/>
          </a:p>
        </p:txBody>
      </p:sp>
      <p:sp>
        <p:nvSpPr>
          <p:cNvPr id="3" name="Text 1"/>
          <p:cNvSpPr/>
          <p:nvPr/>
        </p:nvSpPr>
        <p:spPr>
          <a:xfrm>
            <a:off x="548640" y="868680"/>
            <a:ext cx="10515600" cy="36576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The primary controllable driver of margin</a:t>
            </a:r>
            <a:endParaRPr lang="en-US" sz="1300" dirty="0"/>
          </a:p>
        </p:txBody>
      </p:sp>
      <p:sp>
        <p:nvSpPr>
          <p:cNvPr id="4" name="Text 2"/>
          <p:cNvSpPr/>
          <p:nvPr/>
        </p:nvSpPr>
        <p:spPr>
          <a:xfrm>
            <a:off x="548640" y="1508760"/>
            <a:ext cx="6858000" cy="32004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Shipping cost as % of revenue — highest-burden categories</a:t>
            </a:r>
            <a:endParaRPr lang="en-US" sz="1250" dirty="0"/>
          </a:p>
        </p:txBody>
      </p:sp>
      <p:graphicFrame>
        <p:nvGraphicFramePr>
          <p:cNvPr id="5" name="Chart 0" descr=""/>
          <p:cNvGraphicFramePr/>
          <p:nvPr/>
        </p:nvGraphicFramePr>
        <p:xfrm>
          <a:off x="457200" y="1874520"/>
          <a:ext cx="6949440" cy="37947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35240" y="1508760"/>
            <a:ext cx="3977640" cy="2331720"/>
          </a:xfrm>
          <a:prstGeom prst="roundRect">
            <a:avLst>
              <a:gd name="adj" fmla="val 3137"/>
            </a:avLst>
          </a:prstGeom>
          <a:solidFill>
            <a:srgbClr val="1E2761"/>
          </a:solidFill>
          <a:ln w="12700">
            <a:solidFill>
              <a:srgbClr val="1E2761"/>
            </a:solidFill>
            <a:prstDash val="solid"/>
          </a:ln>
        </p:spPr>
      </p:sp>
      <p:sp>
        <p:nvSpPr>
          <p:cNvPr id="7" name="Text 4"/>
          <p:cNvSpPr/>
          <p:nvPr/>
        </p:nvSpPr>
        <p:spPr>
          <a:xfrm>
            <a:off x="7955280" y="1691640"/>
            <a:ext cx="3383280" cy="274320"/>
          </a:xfrm>
          <a:prstGeom prst="rect">
            <a:avLst/>
          </a:prstGeom>
          <a:noFill/>
          <a:ln/>
        </p:spPr>
        <p:txBody>
          <a:bodyPr wrap="square" rtlCol="0" anchor="ctr"/>
          <a:lstStyle/>
          <a:p>
            <a:pPr indent="0" marL="0">
              <a:buNone/>
            </a:pPr>
            <a:r>
              <a:rPr lang="en-US" sz="1050" b="1" spc="100" kern="0" dirty="0">
                <a:solidFill>
                  <a:srgbClr val="D9614F"/>
                </a:solidFill>
                <a:latin typeface="Calibri" pitchFamily="34" charset="0"/>
                <a:ea typeface="Calibri" pitchFamily="34" charset="-122"/>
                <a:cs typeface="Calibri" pitchFamily="34" charset="-120"/>
              </a:rPr>
              <a:t>CORRELATION</a:t>
            </a:r>
            <a:endParaRPr lang="en-US" sz="1050" dirty="0"/>
          </a:p>
        </p:txBody>
      </p:sp>
      <p:sp>
        <p:nvSpPr>
          <p:cNvPr id="8" name="Text 5"/>
          <p:cNvSpPr/>
          <p:nvPr/>
        </p:nvSpPr>
        <p:spPr>
          <a:xfrm>
            <a:off x="7955280" y="1965960"/>
            <a:ext cx="3383280" cy="7772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− 0.994</a:t>
            </a:r>
            <a:endParaRPr lang="en-US" sz="4000" dirty="0"/>
          </a:p>
        </p:txBody>
      </p:sp>
      <p:sp>
        <p:nvSpPr>
          <p:cNvPr id="9" name="Text 6"/>
          <p:cNvSpPr/>
          <p:nvPr/>
        </p:nvSpPr>
        <p:spPr>
          <a:xfrm>
            <a:off x="7955280" y="2743200"/>
            <a:ext cx="3383280" cy="1005840"/>
          </a:xfrm>
          <a:prstGeom prst="rect">
            <a:avLst/>
          </a:prstGeom>
          <a:noFill/>
          <a:ln/>
        </p:spPr>
        <p:txBody>
          <a:bodyPr wrap="square" rtlCol="0" anchor="ctr"/>
          <a:lstStyle/>
          <a:p>
            <a:pPr indent="0" marL="0">
              <a:lnSpc>
                <a:spcPts val="1600"/>
              </a:lnSpc>
              <a:buNone/>
            </a:pPr>
            <a:r>
              <a:rPr lang="en-US" sz="1200" i="1" dirty="0">
                <a:solidFill>
                  <a:srgbClr val="CADCFC"/>
                </a:solidFill>
                <a:latin typeface="Calibri" pitchFamily="34" charset="0"/>
                <a:ea typeface="Calibri" pitchFamily="34" charset="-122"/>
                <a:cs typeface="Calibri" pitchFamily="34" charset="-120"/>
              </a:rPr>
              <a:t>between shipping cost % and profit margin, across states</a:t>
            </a:r>
            <a:endParaRPr lang="en-US" sz="1200" dirty="0"/>
          </a:p>
        </p:txBody>
      </p:sp>
      <p:sp>
        <p:nvSpPr>
          <p:cNvPr id="10" name="Shape 7"/>
          <p:cNvSpPr/>
          <p:nvPr/>
        </p:nvSpPr>
        <p:spPr>
          <a:xfrm>
            <a:off x="7635240" y="3977640"/>
            <a:ext cx="3977640" cy="2057400"/>
          </a:xfrm>
          <a:prstGeom prst="roundRect">
            <a:avLst>
              <a:gd name="adj" fmla="val 3556"/>
            </a:avLst>
          </a:prstGeom>
          <a:solidFill>
            <a:srgbClr val="FBE7E3"/>
          </a:solidFill>
          <a:ln w="12700">
            <a:solidFill>
              <a:srgbClr val="FBE7E3"/>
            </a:solidFill>
            <a:prstDash val="solid"/>
          </a:ln>
        </p:spPr>
      </p:sp>
      <p:sp>
        <p:nvSpPr>
          <p:cNvPr id="11" name="Text 8"/>
          <p:cNvSpPr/>
          <p:nvPr/>
        </p:nvSpPr>
        <p:spPr>
          <a:xfrm>
            <a:off x="7955280" y="4114800"/>
            <a:ext cx="3383280" cy="502920"/>
          </a:xfrm>
          <a:prstGeom prst="rect">
            <a:avLst/>
          </a:prstGeom>
          <a:noFill/>
          <a:ln/>
        </p:spPr>
        <p:txBody>
          <a:bodyPr wrap="square" rtlCol="0" anchor="ctr"/>
          <a:lstStyle/>
          <a:p>
            <a:pPr indent="0" marL="0">
              <a:buNone/>
            </a:pPr>
            <a:r>
              <a:rPr lang="en-US" sz="1050" b="1" spc="50" kern="0" dirty="0">
                <a:solidFill>
                  <a:srgbClr val="D9614F"/>
                </a:solidFill>
                <a:latin typeface="Calibri" pitchFamily="34" charset="0"/>
                <a:ea typeface="Calibri" pitchFamily="34" charset="-122"/>
                <a:cs typeface="Calibri" pitchFamily="34" charset="-120"/>
              </a:rPr>
              <a:t>HIGHEST SHIPPING-BURDEN STATES</a:t>
            </a:r>
            <a:endParaRPr lang="en-US" sz="1050" dirty="0"/>
          </a:p>
        </p:txBody>
      </p:sp>
      <p:sp>
        <p:nvSpPr>
          <p:cNvPr id="12" name="Text 9"/>
          <p:cNvSpPr/>
          <p:nvPr/>
        </p:nvSpPr>
        <p:spPr>
          <a:xfrm>
            <a:off x="7955280" y="4572000"/>
            <a:ext cx="3383280" cy="502920"/>
          </a:xfrm>
          <a:prstGeom prst="rect">
            <a:avLst/>
          </a:prstGeom>
          <a:noFill/>
          <a:ln/>
        </p:spPr>
        <p:txBody>
          <a:bodyPr wrap="square"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RR   MA   RO   AM   SE   PI</a:t>
            </a:r>
            <a:endParaRPr lang="en-US" sz="2000" dirty="0"/>
          </a:p>
        </p:txBody>
      </p:sp>
      <p:sp>
        <p:nvSpPr>
          <p:cNvPr id="13" name="Text 10"/>
          <p:cNvSpPr/>
          <p:nvPr/>
        </p:nvSpPr>
        <p:spPr>
          <a:xfrm>
            <a:off x="7955280" y="5120640"/>
            <a:ext cx="3383280" cy="822960"/>
          </a:xfrm>
          <a:prstGeom prst="rect">
            <a:avLst/>
          </a:prstGeom>
          <a:noFill/>
          <a:ln/>
        </p:spPr>
        <p:txBody>
          <a:bodyPr wrap="square" rtlCol="0" anchor="ctr"/>
          <a:lstStyle/>
          <a:p>
            <a:pPr indent="0" marL="0">
              <a:lnSpc>
                <a:spcPts val="1500"/>
              </a:lnSpc>
              <a:buNone/>
            </a:pPr>
            <a:r>
              <a:rPr lang="en-US" sz="1150" dirty="0">
                <a:solidFill>
                  <a:srgbClr val="1E2233"/>
                </a:solidFill>
                <a:latin typeface="Calibri" pitchFamily="34" charset="0"/>
                <a:ea typeface="Calibri" pitchFamily="34" charset="-122"/>
                <a:cs typeface="Calibri" pitchFamily="34" charset="-120"/>
              </a:rPr>
              <a:t>Remote / low fulfillment-density states — furthest from São Paulo's seller and logistics hub.</a:t>
            </a:r>
            <a:endParaRPr lang="en-US" sz="1150" dirty="0"/>
          </a:p>
        </p:txBody>
      </p:sp>
      <p:sp>
        <p:nvSpPr>
          <p:cNvPr id="14" name="Text 11"/>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15" name="Text 1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Customer Segmentation &amp; Cancellations</a:t>
            </a:r>
            <a:endParaRPr lang="en-US" sz="2800" dirty="0"/>
          </a:p>
        </p:txBody>
      </p:sp>
      <p:sp>
        <p:nvSpPr>
          <p:cNvPr id="3" name="Shape 1"/>
          <p:cNvSpPr/>
          <p:nvPr/>
        </p:nvSpPr>
        <p:spPr>
          <a:xfrm>
            <a:off x="548640" y="1554480"/>
            <a:ext cx="6400800" cy="4480560"/>
          </a:xfrm>
          <a:prstGeom prst="roundRect">
            <a:avLst>
              <a:gd name="adj" fmla="val 1633"/>
            </a:avLst>
          </a:prstGeom>
          <a:solidFill>
            <a:srgbClr val="FFFFFF"/>
          </a:solidFill>
          <a:ln w="12700">
            <a:solidFill>
              <a:srgbClr val="E6E9F0"/>
            </a:solidFill>
            <a:prstDash val="solid"/>
          </a:ln>
        </p:spPr>
      </p:sp>
      <p:sp>
        <p:nvSpPr>
          <p:cNvPr id="4" name="Text 2"/>
          <p:cNvSpPr/>
          <p:nvPr/>
        </p:nvSpPr>
        <p:spPr>
          <a:xfrm>
            <a:off x="868680" y="1783080"/>
            <a:ext cx="5760720" cy="320040"/>
          </a:xfrm>
          <a:prstGeom prst="rect">
            <a:avLst/>
          </a:prstGeom>
          <a:noFill/>
          <a:ln/>
        </p:spPr>
        <p:txBody>
          <a:bodyPr wrap="square"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NEW VS. REPEAT CUSTOMERS</a:t>
            </a:r>
            <a:endParaRPr lang="en-US" sz="1100" dirty="0"/>
          </a:p>
        </p:txBody>
      </p:sp>
      <p:sp>
        <p:nvSpPr>
          <p:cNvPr id="5" name="Text 3"/>
          <p:cNvSpPr/>
          <p:nvPr/>
        </p:nvSpPr>
        <p:spPr>
          <a:xfrm>
            <a:off x="868680" y="2148840"/>
            <a:ext cx="5760720" cy="365760"/>
          </a:xfrm>
          <a:prstGeom prst="rect">
            <a:avLst/>
          </a:prstGeom>
          <a:noFill/>
          <a:ln/>
        </p:spPr>
        <p:txBody>
          <a:bodyPr wrap="square" rtlCol="0" anchor="ctr"/>
          <a:lstStyle/>
          <a:p>
            <a:pPr indent="0" marL="0">
              <a:buNone/>
            </a:pPr>
            <a:r>
              <a:rPr lang="en-US" sz="1300" dirty="0">
                <a:solidFill>
                  <a:srgbClr val="1E2233"/>
                </a:solidFill>
                <a:latin typeface="Calibri" pitchFamily="34" charset="0"/>
                <a:ea typeface="Calibri" pitchFamily="34" charset="-122"/>
                <a:cs typeface="Calibri" pitchFamily="34" charset="-120"/>
              </a:rPr>
              <a:t>Customers were segmented into New and Repeat, then compared across:</a:t>
            </a:r>
            <a:endParaRPr lang="en-US" sz="1300" dirty="0"/>
          </a:p>
        </p:txBody>
      </p:sp>
      <p:sp>
        <p:nvSpPr>
          <p:cNvPr id="6" name="Shape 4"/>
          <p:cNvSpPr/>
          <p:nvPr/>
        </p:nvSpPr>
        <p:spPr>
          <a:xfrm>
            <a:off x="868680" y="2651760"/>
            <a:ext cx="2651760" cy="502920"/>
          </a:xfrm>
          <a:prstGeom prst="roundRect">
            <a:avLst>
              <a:gd name="adj" fmla="val 12727"/>
            </a:avLst>
          </a:prstGeom>
          <a:solidFill>
            <a:srgbClr val="EEF3FC"/>
          </a:solidFill>
          <a:ln w="12700">
            <a:solidFill>
              <a:srgbClr val="EEF3FC"/>
            </a:solidFill>
            <a:prstDash val="solid"/>
          </a:ln>
        </p:spPr>
      </p:sp>
      <p:sp>
        <p:nvSpPr>
          <p:cNvPr id="7" name="Text 5"/>
          <p:cNvSpPr/>
          <p:nvPr/>
        </p:nvSpPr>
        <p:spPr>
          <a:xfrm>
            <a:off x="868680" y="2651760"/>
            <a:ext cx="2651760" cy="50292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Revenue</a:t>
            </a:r>
            <a:endParaRPr lang="en-US" sz="1250" dirty="0"/>
          </a:p>
        </p:txBody>
      </p:sp>
      <p:sp>
        <p:nvSpPr>
          <p:cNvPr id="8" name="Shape 6"/>
          <p:cNvSpPr/>
          <p:nvPr/>
        </p:nvSpPr>
        <p:spPr>
          <a:xfrm>
            <a:off x="3749040" y="2651760"/>
            <a:ext cx="2651760" cy="502920"/>
          </a:xfrm>
          <a:prstGeom prst="roundRect">
            <a:avLst>
              <a:gd name="adj" fmla="val 12727"/>
            </a:avLst>
          </a:prstGeom>
          <a:solidFill>
            <a:srgbClr val="EEF3FC"/>
          </a:solidFill>
          <a:ln w="12700">
            <a:solidFill>
              <a:srgbClr val="EEF3FC"/>
            </a:solidFill>
            <a:prstDash val="solid"/>
          </a:ln>
        </p:spPr>
      </p:sp>
      <p:sp>
        <p:nvSpPr>
          <p:cNvPr id="9" name="Text 7"/>
          <p:cNvSpPr/>
          <p:nvPr/>
        </p:nvSpPr>
        <p:spPr>
          <a:xfrm>
            <a:off x="3749040" y="2651760"/>
            <a:ext cx="2651760" cy="50292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Profit</a:t>
            </a:r>
            <a:endParaRPr lang="en-US" sz="1250" dirty="0"/>
          </a:p>
        </p:txBody>
      </p:sp>
      <p:sp>
        <p:nvSpPr>
          <p:cNvPr id="10" name="Shape 8"/>
          <p:cNvSpPr/>
          <p:nvPr/>
        </p:nvSpPr>
        <p:spPr>
          <a:xfrm>
            <a:off x="868680" y="3337560"/>
            <a:ext cx="2651760" cy="502920"/>
          </a:xfrm>
          <a:prstGeom prst="roundRect">
            <a:avLst>
              <a:gd name="adj" fmla="val 12727"/>
            </a:avLst>
          </a:prstGeom>
          <a:solidFill>
            <a:srgbClr val="EEF3FC"/>
          </a:solidFill>
          <a:ln w="12700">
            <a:solidFill>
              <a:srgbClr val="EEF3FC"/>
            </a:solidFill>
            <a:prstDash val="solid"/>
          </a:ln>
        </p:spPr>
      </p:sp>
      <p:sp>
        <p:nvSpPr>
          <p:cNvPr id="11" name="Text 9"/>
          <p:cNvSpPr/>
          <p:nvPr/>
        </p:nvSpPr>
        <p:spPr>
          <a:xfrm>
            <a:off x="868680" y="3337560"/>
            <a:ext cx="2651760" cy="50292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Orders</a:t>
            </a:r>
            <a:endParaRPr lang="en-US" sz="1250" dirty="0"/>
          </a:p>
        </p:txBody>
      </p:sp>
      <p:sp>
        <p:nvSpPr>
          <p:cNvPr id="12" name="Shape 10"/>
          <p:cNvSpPr/>
          <p:nvPr/>
        </p:nvSpPr>
        <p:spPr>
          <a:xfrm>
            <a:off x="3749040" y="3337560"/>
            <a:ext cx="2651760" cy="502920"/>
          </a:xfrm>
          <a:prstGeom prst="roundRect">
            <a:avLst>
              <a:gd name="adj" fmla="val 12727"/>
            </a:avLst>
          </a:prstGeom>
          <a:solidFill>
            <a:srgbClr val="EEF3FC"/>
          </a:solidFill>
          <a:ln w="12700">
            <a:solidFill>
              <a:srgbClr val="EEF3FC"/>
            </a:solidFill>
            <a:prstDash val="solid"/>
          </a:ln>
        </p:spPr>
      </p:sp>
      <p:sp>
        <p:nvSpPr>
          <p:cNvPr id="13" name="Text 11"/>
          <p:cNvSpPr/>
          <p:nvPr/>
        </p:nvSpPr>
        <p:spPr>
          <a:xfrm>
            <a:off x="3749040" y="3337560"/>
            <a:ext cx="2651760" cy="50292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Customers</a:t>
            </a:r>
            <a:endParaRPr lang="en-US" sz="1250" dirty="0"/>
          </a:p>
        </p:txBody>
      </p:sp>
      <p:sp>
        <p:nvSpPr>
          <p:cNvPr id="14" name="Shape 12"/>
          <p:cNvSpPr/>
          <p:nvPr/>
        </p:nvSpPr>
        <p:spPr>
          <a:xfrm>
            <a:off x="868680" y="4023360"/>
            <a:ext cx="2651760" cy="502920"/>
          </a:xfrm>
          <a:prstGeom prst="roundRect">
            <a:avLst>
              <a:gd name="adj" fmla="val 12727"/>
            </a:avLst>
          </a:prstGeom>
          <a:solidFill>
            <a:srgbClr val="EEF3FC"/>
          </a:solidFill>
          <a:ln w="12700">
            <a:solidFill>
              <a:srgbClr val="EEF3FC"/>
            </a:solidFill>
            <a:prstDash val="solid"/>
          </a:ln>
        </p:spPr>
      </p:sp>
      <p:sp>
        <p:nvSpPr>
          <p:cNvPr id="15" name="Text 13"/>
          <p:cNvSpPr/>
          <p:nvPr/>
        </p:nvSpPr>
        <p:spPr>
          <a:xfrm>
            <a:off x="868680" y="4023360"/>
            <a:ext cx="2651760" cy="50292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Profit Margin</a:t>
            </a:r>
            <a:endParaRPr lang="en-US" sz="1250" dirty="0"/>
          </a:p>
        </p:txBody>
      </p:sp>
      <p:sp>
        <p:nvSpPr>
          <p:cNvPr id="16" name="Shape 14"/>
          <p:cNvSpPr/>
          <p:nvPr/>
        </p:nvSpPr>
        <p:spPr>
          <a:xfrm>
            <a:off x="3749040" y="4023360"/>
            <a:ext cx="2651760" cy="502920"/>
          </a:xfrm>
          <a:prstGeom prst="roundRect">
            <a:avLst>
              <a:gd name="adj" fmla="val 12727"/>
            </a:avLst>
          </a:prstGeom>
          <a:solidFill>
            <a:srgbClr val="EEF3FC"/>
          </a:solidFill>
          <a:ln w="12700">
            <a:solidFill>
              <a:srgbClr val="EEF3FC"/>
            </a:solidFill>
            <a:prstDash val="solid"/>
          </a:ln>
        </p:spPr>
      </p:sp>
      <p:sp>
        <p:nvSpPr>
          <p:cNvPr id="17" name="Text 15"/>
          <p:cNvSpPr/>
          <p:nvPr/>
        </p:nvSpPr>
        <p:spPr>
          <a:xfrm>
            <a:off x="3749040" y="4023360"/>
            <a:ext cx="2651760" cy="50292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Avg. Order Value</a:t>
            </a:r>
            <a:endParaRPr lang="en-US" sz="1250" dirty="0"/>
          </a:p>
        </p:txBody>
      </p:sp>
      <p:sp>
        <p:nvSpPr>
          <p:cNvPr id="18" name="Text 16"/>
          <p:cNvSpPr/>
          <p:nvPr/>
        </p:nvSpPr>
        <p:spPr>
          <a:xfrm>
            <a:off x="868680" y="4892040"/>
            <a:ext cx="5760720" cy="1005840"/>
          </a:xfrm>
          <a:prstGeom prst="rect">
            <a:avLst/>
          </a:prstGeom>
          <a:noFill/>
          <a:ln/>
        </p:spPr>
        <p:txBody>
          <a:bodyPr wrap="square" rtlCol="0" anchor="ctr"/>
          <a:lstStyle/>
          <a:p>
            <a:pPr indent="0" marL="0">
              <a:lnSpc>
                <a:spcPts val="1500"/>
              </a:lnSpc>
              <a:buNone/>
            </a:pPr>
            <a:r>
              <a:rPr lang="en-US" sz="1150" i="1" dirty="0">
                <a:solidFill>
                  <a:srgbClr val="5B6478"/>
                </a:solidFill>
                <a:latin typeface="Calibri" pitchFamily="34" charset="0"/>
                <a:ea typeface="Calibri" pitchFamily="34" charset="-122"/>
                <a:cs typeface="Calibri" pitchFamily="34" charset="-120"/>
              </a:rPr>
              <a:t>This comparison framework is built into the Power BI dashboard; segment-level profit figures should be read there for the latest values.</a:t>
            </a:r>
            <a:endParaRPr lang="en-US" sz="1150" dirty="0"/>
          </a:p>
        </p:txBody>
      </p:sp>
      <p:sp>
        <p:nvSpPr>
          <p:cNvPr id="19" name="Shape 17"/>
          <p:cNvSpPr/>
          <p:nvPr/>
        </p:nvSpPr>
        <p:spPr>
          <a:xfrm>
            <a:off x="7223760" y="1554480"/>
            <a:ext cx="4389120" cy="4480560"/>
          </a:xfrm>
          <a:prstGeom prst="roundRect">
            <a:avLst>
              <a:gd name="adj" fmla="val 1667"/>
            </a:avLst>
          </a:prstGeom>
          <a:solidFill>
            <a:srgbClr val="D9614F"/>
          </a:solidFill>
          <a:ln w="12700">
            <a:solidFill>
              <a:srgbClr val="D9614F"/>
            </a:solidFill>
            <a:prstDash val="solid"/>
          </a:ln>
        </p:spPr>
      </p:sp>
      <p:sp>
        <p:nvSpPr>
          <p:cNvPr id="20" name="Text 18"/>
          <p:cNvSpPr/>
          <p:nvPr/>
        </p:nvSpPr>
        <p:spPr>
          <a:xfrm>
            <a:off x="7543800" y="1783080"/>
            <a:ext cx="3749040" cy="32004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CANCELLATION ANALYSIS</a:t>
            </a:r>
            <a:endParaRPr lang="en-US" sz="1100" dirty="0"/>
          </a:p>
        </p:txBody>
      </p:sp>
      <p:sp>
        <p:nvSpPr>
          <p:cNvPr id="21" name="Text 19"/>
          <p:cNvSpPr/>
          <p:nvPr/>
        </p:nvSpPr>
        <p:spPr>
          <a:xfrm>
            <a:off x="7543800" y="2194560"/>
            <a:ext cx="3794760" cy="914400"/>
          </a:xfrm>
          <a:prstGeom prst="rect">
            <a:avLst/>
          </a:prstGeom>
          <a:noFill/>
          <a:ln/>
        </p:spPr>
        <p:txBody>
          <a:bodyPr wrap="square" rtlCol="0" anchor="ctr"/>
          <a:lstStyle/>
          <a:p>
            <a:pPr indent="0" marL="0">
              <a:lnSpc>
                <a:spcPts val="2200"/>
              </a:lnSpc>
              <a:buNone/>
            </a:pPr>
            <a:r>
              <a:rPr lang="en-US" sz="1800" b="1" dirty="0">
                <a:solidFill>
                  <a:srgbClr val="FFFFFF"/>
                </a:solidFill>
                <a:latin typeface="Cambria" pitchFamily="34" charset="0"/>
                <a:ea typeface="Cambria" pitchFamily="34" charset="-122"/>
                <a:cs typeface="Cambria" pitchFamily="34" charset="-120"/>
              </a:rPr>
              <a:t>Every cancelled order is 100% margin leakage</a:t>
            </a:r>
            <a:endParaRPr lang="en-US" sz="1800" dirty="0"/>
          </a:p>
        </p:txBody>
      </p:sp>
      <p:sp>
        <p:nvSpPr>
          <p:cNvPr id="22" name="Text 20"/>
          <p:cNvSpPr/>
          <p:nvPr/>
        </p:nvSpPr>
        <p:spPr>
          <a:xfrm>
            <a:off x="7543800" y="3246120"/>
            <a:ext cx="3794760" cy="1463040"/>
          </a:xfrm>
          <a:prstGeom prst="rect">
            <a:avLst/>
          </a:prstGeom>
          <a:noFill/>
          <a:ln/>
        </p:spPr>
        <p:txBody>
          <a:bodyPr wrap="square" rtlCol="0" anchor="ctr"/>
          <a:lstStyle/>
          <a:p>
            <a:pPr indent="0" marL="0">
              <a:lnSpc>
                <a:spcPts val="1800"/>
              </a:lnSpc>
              <a:buNone/>
            </a:pPr>
            <a:r>
              <a:rPr lang="en-US" sz="1300" dirty="0">
                <a:solidFill>
                  <a:srgbClr val="FBE2DD"/>
                </a:solidFill>
                <a:latin typeface="Calibri" pitchFamily="34" charset="0"/>
                <a:ea typeface="Calibri" pitchFamily="34" charset="-122"/>
                <a:cs typeface="Calibri" pitchFamily="34" charset="-120"/>
              </a:rPr>
              <a:t>Order status and cancellation rate were analyzed as a distinct leakage channel — revenue booked with no profit realized, and often sunk fulfillment cost already incurred.</a:t>
            </a:r>
            <a:endParaRPr lang="en-US" sz="1300" dirty="0"/>
          </a:p>
        </p:txBody>
      </p:sp>
      <p:sp>
        <p:nvSpPr>
          <p:cNvPr id="23" name="Shape 21"/>
          <p:cNvSpPr/>
          <p:nvPr/>
        </p:nvSpPr>
        <p:spPr>
          <a:xfrm>
            <a:off x="7543800" y="4846320"/>
            <a:ext cx="3749040" cy="0"/>
          </a:xfrm>
          <a:prstGeom prst="line">
            <a:avLst/>
          </a:prstGeom>
          <a:noFill/>
          <a:ln w="12700">
            <a:solidFill>
              <a:srgbClr val="E89A8E"/>
            </a:solidFill>
            <a:prstDash val="solid"/>
          </a:ln>
        </p:spPr>
      </p:sp>
      <p:sp>
        <p:nvSpPr>
          <p:cNvPr id="24" name="Text 22"/>
          <p:cNvSpPr/>
          <p:nvPr/>
        </p:nvSpPr>
        <p:spPr>
          <a:xfrm>
            <a:off x="7543800" y="5029200"/>
            <a:ext cx="3749040" cy="914400"/>
          </a:xfrm>
          <a:prstGeom prst="rect">
            <a:avLst/>
          </a:prstGeom>
          <a:noFill/>
          <a:ln/>
        </p:spPr>
        <p:txBody>
          <a:bodyPr wrap="square" rtlCol="0" anchor="ctr"/>
          <a:lstStyle/>
          <a:p>
            <a:pPr indent="0" marL="0">
              <a:lnSpc>
                <a:spcPts val="1500"/>
              </a:lnSpc>
              <a:buNone/>
            </a:pPr>
            <a:r>
              <a:rPr lang="en-US" sz="1150" i="1" dirty="0">
                <a:solidFill>
                  <a:srgbClr val="FFFFFF"/>
                </a:solidFill>
                <a:latin typeface="Calibri" pitchFamily="34" charset="0"/>
                <a:ea typeface="Calibri" pitchFamily="34" charset="-122"/>
                <a:cs typeface="Calibri" pitchFamily="34" charset="-120"/>
              </a:rPr>
              <a:t>Recommended next step: quantify cancellation rate by category and state to size this channel precisely (see Recommendations).</a:t>
            </a:r>
            <a:endParaRPr lang="en-US" sz="1150" dirty="0"/>
          </a:p>
        </p:txBody>
      </p:sp>
      <p:sp>
        <p:nvSpPr>
          <p:cNvPr id="25" name="Text 23"/>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26"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Root Cause Analysis</a:t>
            </a:r>
            <a:endParaRPr lang="en-US" sz="2800" dirty="0"/>
          </a:p>
        </p:txBody>
      </p:sp>
      <p:sp>
        <p:nvSpPr>
          <p:cNvPr id="3" name="Text 1"/>
          <p:cNvSpPr/>
          <p:nvPr/>
        </p:nvSpPr>
        <p:spPr>
          <a:xfrm>
            <a:off x="548640" y="868680"/>
            <a:ext cx="10515600" cy="36576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Ranked by business impact</a:t>
            </a:r>
            <a:endParaRPr lang="en-US" sz="1300" dirty="0"/>
          </a:p>
        </p:txBody>
      </p:sp>
      <p:sp>
        <p:nvSpPr>
          <p:cNvPr id="4" name="Shape 2"/>
          <p:cNvSpPr/>
          <p:nvPr/>
        </p:nvSpPr>
        <p:spPr>
          <a:xfrm>
            <a:off x="548640" y="1508760"/>
            <a:ext cx="11064240" cy="822960"/>
          </a:xfrm>
          <a:prstGeom prst="roundRect">
            <a:avLst>
              <a:gd name="adj" fmla="val 7778"/>
            </a:avLst>
          </a:prstGeom>
          <a:solidFill>
            <a:srgbClr val="F7F8FB"/>
          </a:solidFill>
          <a:ln w="12700">
            <a:solidFill>
              <a:srgbClr val="E6E9F0"/>
            </a:solidFill>
            <a:prstDash val="solid"/>
          </a:ln>
        </p:spPr>
      </p:sp>
      <p:sp>
        <p:nvSpPr>
          <p:cNvPr id="5" name="Shape 3"/>
          <p:cNvSpPr/>
          <p:nvPr/>
        </p:nvSpPr>
        <p:spPr>
          <a:xfrm>
            <a:off x="731520" y="1664208"/>
            <a:ext cx="502920" cy="502920"/>
          </a:xfrm>
          <a:prstGeom prst="ellipse">
            <a:avLst/>
          </a:prstGeom>
          <a:solidFill>
            <a:srgbClr val="1E2761"/>
          </a:solidFill>
          <a:ln/>
        </p:spPr>
      </p:sp>
      <p:sp>
        <p:nvSpPr>
          <p:cNvPr id="6" name="Text 4"/>
          <p:cNvSpPr/>
          <p:nvPr/>
        </p:nvSpPr>
        <p:spPr>
          <a:xfrm>
            <a:off x="731520" y="166420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17320" y="1581912"/>
            <a:ext cx="7223760" cy="365760"/>
          </a:xfrm>
          <a:prstGeom prst="rect">
            <a:avLst/>
          </a:prstGeom>
          <a:noFill/>
          <a:ln/>
        </p:spPr>
        <p:txBody>
          <a:bodyPr wrap="square" rtlCol="0" anchor="ctr"/>
          <a:lstStyle/>
          <a:p>
            <a:pPr indent="0" marL="0">
              <a:buNone/>
            </a:pPr>
            <a:r>
              <a:rPr lang="en-US" sz="1350" b="1" dirty="0">
                <a:solidFill>
                  <a:srgbClr val="1E2233"/>
                </a:solidFill>
                <a:latin typeface="Calibri" pitchFamily="34" charset="0"/>
                <a:ea typeface="Calibri" pitchFamily="34" charset="-122"/>
                <a:cs typeface="Calibri" pitchFamily="34" charset="-120"/>
              </a:rPr>
              <a:t>Cost-model structure caps the margin ceiling</a:t>
            </a:r>
            <a:endParaRPr lang="en-US" sz="1350" dirty="0"/>
          </a:p>
        </p:txBody>
      </p:sp>
      <p:sp>
        <p:nvSpPr>
          <p:cNvPr id="8" name="Text 6"/>
          <p:cNvSpPr/>
          <p:nvPr/>
        </p:nvSpPr>
        <p:spPr>
          <a:xfrm>
            <a:off x="1417320" y="1911096"/>
            <a:ext cx="7223760" cy="384048"/>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Product cost is fixed at 65% of revenue for every order — so margin can never exceed 35%, before shipping. This shapes every number in this deck.</a:t>
            </a:r>
            <a:endParaRPr lang="en-US" sz="1050" dirty="0"/>
          </a:p>
        </p:txBody>
      </p:sp>
      <p:sp>
        <p:nvSpPr>
          <p:cNvPr id="9" name="Shape 7"/>
          <p:cNvSpPr/>
          <p:nvPr/>
        </p:nvSpPr>
        <p:spPr>
          <a:xfrm>
            <a:off x="8778240" y="1764792"/>
            <a:ext cx="2651760" cy="292608"/>
          </a:xfrm>
          <a:prstGeom prst="roundRect">
            <a:avLst>
              <a:gd name="adj" fmla="val 50000"/>
            </a:avLst>
          </a:prstGeom>
          <a:solidFill>
            <a:srgbClr val="5B6478"/>
          </a:solidFill>
          <a:ln/>
        </p:spPr>
      </p:sp>
      <p:sp>
        <p:nvSpPr>
          <p:cNvPr id="10" name="Text 8"/>
          <p:cNvSpPr/>
          <p:nvPr/>
        </p:nvSpPr>
        <p:spPr>
          <a:xfrm>
            <a:off x="8778240" y="1764792"/>
            <a:ext cx="2651760" cy="292608"/>
          </a:xfrm>
          <a:prstGeom prst="rect">
            <a:avLst/>
          </a:prstGeom>
          <a:noFill/>
          <a:ln/>
        </p:spPr>
        <p:txBody>
          <a:bodyPr wrap="square"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MODEL ASSUMPTION</a:t>
            </a:r>
            <a:endParaRPr lang="en-US" sz="850" dirty="0"/>
          </a:p>
        </p:txBody>
      </p:sp>
      <p:sp>
        <p:nvSpPr>
          <p:cNvPr id="11" name="Shape 9"/>
          <p:cNvSpPr/>
          <p:nvPr/>
        </p:nvSpPr>
        <p:spPr>
          <a:xfrm>
            <a:off x="548640" y="2450592"/>
            <a:ext cx="11064240" cy="822960"/>
          </a:xfrm>
          <a:prstGeom prst="roundRect">
            <a:avLst>
              <a:gd name="adj" fmla="val 7778"/>
            </a:avLst>
          </a:prstGeom>
          <a:solidFill>
            <a:srgbClr val="FFFFFF"/>
          </a:solidFill>
          <a:ln w="12700">
            <a:solidFill>
              <a:srgbClr val="E6E9F0"/>
            </a:solidFill>
            <a:prstDash val="solid"/>
          </a:ln>
        </p:spPr>
      </p:sp>
      <p:sp>
        <p:nvSpPr>
          <p:cNvPr id="12" name="Shape 10"/>
          <p:cNvSpPr/>
          <p:nvPr/>
        </p:nvSpPr>
        <p:spPr>
          <a:xfrm>
            <a:off x="731520" y="2606040"/>
            <a:ext cx="502920" cy="502920"/>
          </a:xfrm>
          <a:prstGeom prst="ellipse">
            <a:avLst/>
          </a:prstGeom>
          <a:solidFill>
            <a:srgbClr val="1E2761"/>
          </a:solidFill>
          <a:ln/>
        </p:spPr>
      </p:sp>
      <p:sp>
        <p:nvSpPr>
          <p:cNvPr id="13" name="Text 11"/>
          <p:cNvSpPr/>
          <p:nvPr/>
        </p:nvSpPr>
        <p:spPr>
          <a:xfrm>
            <a:off x="731520" y="26060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1417320" y="2523744"/>
            <a:ext cx="7223760" cy="365760"/>
          </a:xfrm>
          <a:prstGeom prst="rect">
            <a:avLst/>
          </a:prstGeom>
          <a:noFill/>
          <a:ln/>
        </p:spPr>
        <p:txBody>
          <a:bodyPr wrap="square" rtlCol="0" anchor="ctr"/>
          <a:lstStyle/>
          <a:p>
            <a:pPr indent="0" marL="0">
              <a:buNone/>
            </a:pPr>
            <a:r>
              <a:rPr lang="en-US" sz="1350" b="1" dirty="0">
                <a:solidFill>
                  <a:srgbClr val="1E2233"/>
                </a:solidFill>
                <a:latin typeface="Calibri" pitchFamily="34" charset="0"/>
                <a:ea typeface="Calibri" pitchFamily="34" charset="-122"/>
                <a:cs typeface="Calibri" pitchFamily="34" charset="-120"/>
              </a:rPr>
              <a:t>Shipping cost is the dominant variable driving margin down</a:t>
            </a:r>
            <a:endParaRPr lang="en-US" sz="1350" dirty="0"/>
          </a:p>
        </p:txBody>
      </p:sp>
      <p:sp>
        <p:nvSpPr>
          <p:cNvPr id="15" name="Text 13"/>
          <p:cNvSpPr/>
          <p:nvPr/>
        </p:nvSpPr>
        <p:spPr>
          <a:xfrm>
            <a:off x="1417320" y="2852928"/>
            <a:ext cx="7223760" cy="384048"/>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A near-perfect negative correlation (−0.994) between shipping % of revenue and profit margin across states. Highest-impact, most controllable lever.</a:t>
            </a:r>
            <a:endParaRPr lang="en-US" sz="1050" dirty="0"/>
          </a:p>
        </p:txBody>
      </p:sp>
      <p:sp>
        <p:nvSpPr>
          <p:cNvPr id="16" name="Shape 14"/>
          <p:cNvSpPr/>
          <p:nvPr/>
        </p:nvSpPr>
        <p:spPr>
          <a:xfrm>
            <a:off x="8778240" y="2706624"/>
            <a:ext cx="2651760" cy="292608"/>
          </a:xfrm>
          <a:prstGeom prst="roundRect">
            <a:avLst>
              <a:gd name="adj" fmla="val 50000"/>
            </a:avLst>
          </a:prstGeom>
          <a:solidFill>
            <a:srgbClr val="1C7293"/>
          </a:solidFill>
          <a:ln/>
        </p:spPr>
      </p:sp>
      <p:sp>
        <p:nvSpPr>
          <p:cNvPr id="17" name="Text 15"/>
          <p:cNvSpPr/>
          <p:nvPr/>
        </p:nvSpPr>
        <p:spPr>
          <a:xfrm>
            <a:off x="8778240" y="2706624"/>
            <a:ext cx="2651760" cy="292608"/>
          </a:xfrm>
          <a:prstGeom prst="rect">
            <a:avLst/>
          </a:prstGeom>
          <a:noFill/>
          <a:ln/>
        </p:spPr>
        <p:txBody>
          <a:bodyPr wrap="square"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EVIDENCE-BASED</a:t>
            </a:r>
            <a:endParaRPr lang="en-US" sz="850" dirty="0"/>
          </a:p>
        </p:txBody>
      </p:sp>
      <p:sp>
        <p:nvSpPr>
          <p:cNvPr id="18" name="Shape 16"/>
          <p:cNvSpPr/>
          <p:nvPr/>
        </p:nvSpPr>
        <p:spPr>
          <a:xfrm>
            <a:off x="548640" y="3392424"/>
            <a:ext cx="11064240" cy="822960"/>
          </a:xfrm>
          <a:prstGeom prst="roundRect">
            <a:avLst>
              <a:gd name="adj" fmla="val 7778"/>
            </a:avLst>
          </a:prstGeom>
          <a:solidFill>
            <a:srgbClr val="F7F8FB"/>
          </a:solidFill>
          <a:ln w="12700">
            <a:solidFill>
              <a:srgbClr val="E6E9F0"/>
            </a:solidFill>
            <a:prstDash val="solid"/>
          </a:ln>
        </p:spPr>
      </p:sp>
      <p:sp>
        <p:nvSpPr>
          <p:cNvPr id="19" name="Shape 17"/>
          <p:cNvSpPr/>
          <p:nvPr/>
        </p:nvSpPr>
        <p:spPr>
          <a:xfrm>
            <a:off x="731520" y="3547872"/>
            <a:ext cx="502920" cy="502920"/>
          </a:xfrm>
          <a:prstGeom prst="ellipse">
            <a:avLst/>
          </a:prstGeom>
          <a:solidFill>
            <a:srgbClr val="1E2761"/>
          </a:solidFill>
          <a:ln/>
        </p:spPr>
      </p:sp>
      <p:sp>
        <p:nvSpPr>
          <p:cNvPr id="20" name="Text 18"/>
          <p:cNvSpPr/>
          <p:nvPr/>
        </p:nvSpPr>
        <p:spPr>
          <a:xfrm>
            <a:off x="731520" y="354787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p:nvPr/>
        </p:nvSpPr>
        <p:spPr>
          <a:xfrm>
            <a:off x="1417320" y="3465576"/>
            <a:ext cx="7223760" cy="365760"/>
          </a:xfrm>
          <a:prstGeom prst="rect">
            <a:avLst/>
          </a:prstGeom>
          <a:noFill/>
          <a:ln/>
        </p:spPr>
        <p:txBody>
          <a:bodyPr wrap="square" rtlCol="0" anchor="ctr"/>
          <a:lstStyle/>
          <a:p>
            <a:pPr indent="0" marL="0">
              <a:buNone/>
            </a:pPr>
            <a:r>
              <a:rPr lang="en-US" sz="1350" b="1" dirty="0">
                <a:solidFill>
                  <a:srgbClr val="1E2233"/>
                </a:solidFill>
                <a:latin typeface="Calibri" pitchFamily="34" charset="0"/>
                <a:ea typeface="Calibri" pitchFamily="34" charset="-122"/>
                <a:cs typeface="Calibri" pitchFamily="34" charset="-120"/>
              </a:rPr>
              <a:t>Category mix skews toward shipping-heavy goods</a:t>
            </a:r>
            <a:endParaRPr lang="en-US" sz="1350" dirty="0"/>
          </a:p>
        </p:txBody>
      </p:sp>
      <p:sp>
        <p:nvSpPr>
          <p:cNvPr id="22" name="Text 20"/>
          <p:cNvSpPr/>
          <p:nvPr/>
        </p:nvSpPr>
        <p:spPr>
          <a:xfrm>
            <a:off x="1417320" y="3794760"/>
            <a:ext cx="7223760" cy="384048"/>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Home Comfort 2, Flowers, Furniture/Upholstery, Christmas Supplies and Diapers all carry shipping cost equal to 36–54% of their revenue.</a:t>
            </a:r>
            <a:endParaRPr lang="en-US" sz="1050" dirty="0"/>
          </a:p>
        </p:txBody>
      </p:sp>
      <p:sp>
        <p:nvSpPr>
          <p:cNvPr id="23" name="Shape 21"/>
          <p:cNvSpPr/>
          <p:nvPr/>
        </p:nvSpPr>
        <p:spPr>
          <a:xfrm>
            <a:off x="8778240" y="3648456"/>
            <a:ext cx="2651760" cy="292608"/>
          </a:xfrm>
          <a:prstGeom prst="roundRect">
            <a:avLst>
              <a:gd name="adj" fmla="val 50000"/>
            </a:avLst>
          </a:prstGeom>
          <a:solidFill>
            <a:srgbClr val="1C7293"/>
          </a:solidFill>
          <a:ln/>
        </p:spPr>
      </p:sp>
      <p:sp>
        <p:nvSpPr>
          <p:cNvPr id="24" name="Text 22"/>
          <p:cNvSpPr/>
          <p:nvPr/>
        </p:nvSpPr>
        <p:spPr>
          <a:xfrm>
            <a:off x="8778240" y="3648456"/>
            <a:ext cx="2651760" cy="292608"/>
          </a:xfrm>
          <a:prstGeom prst="rect">
            <a:avLst/>
          </a:prstGeom>
          <a:noFill/>
          <a:ln/>
        </p:spPr>
        <p:txBody>
          <a:bodyPr wrap="square"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EVIDENCE-BASED</a:t>
            </a:r>
            <a:endParaRPr lang="en-US" sz="850" dirty="0"/>
          </a:p>
        </p:txBody>
      </p:sp>
      <p:sp>
        <p:nvSpPr>
          <p:cNvPr id="25" name="Shape 23"/>
          <p:cNvSpPr/>
          <p:nvPr/>
        </p:nvSpPr>
        <p:spPr>
          <a:xfrm>
            <a:off x="548640" y="4334256"/>
            <a:ext cx="11064240" cy="822960"/>
          </a:xfrm>
          <a:prstGeom prst="roundRect">
            <a:avLst>
              <a:gd name="adj" fmla="val 7778"/>
            </a:avLst>
          </a:prstGeom>
          <a:solidFill>
            <a:srgbClr val="FFFFFF"/>
          </a:solidFill>
          <a:ln w="12700">
            <a:solidFill>
              <a:srgbClr val="E6E9F0"/>
            </a:solidFill>
            <a:prstDash val="solid"/>
          </a:ln>
        </p:spPr>
      </p:sp>
      <p:sp>
        <p:nvSpPr>
          <p:cNvPr id="26" name="Shape 24"/>
          <p:cNvSpPr/>
          <p:nvPr/>
        </p:nvSpPr>
        <p:spPr>
          <a:xfrm>
            <a:off x="731520" y="4489704"/>
            <a:ext cx="502920" cy="502920"/>
          </a:xfrm>
          <a:prstGeom prst="ellipse">
            <a:avLst/>
          </a:prstGeom>
          <a:solidFill>
            <a:srgbClr val="1E2761"/>
          </a:solidFill>
          <a:ln/>
        </p:spPr>
      </p:sp>
      <p:sp>
        <p:nvSpPr>
          <p:cNvPr id="27" name="Text 25"/>
          <p:cNvSpPr/>
          <p:nvPr/>
        </p:nvSpPr>
        <p:spPr>
          <a:xfrm>
            <a:off x="731520" y="4489704"/>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Text 26"/>
          <p:cNvSpPr/>
          <p:nvPr/>
        </p:nvSpPr>
        <p:spPr>
          <a:xfrm>
            <a:off x="1417320" y="4407408"/>
            <a:ext cx="7223760" cy="365760"/>
          </a:xfrm>
          <a:prstGeom prst="rect">
            <a:avLst/>
          </a:prstGeom>
          <a:noFill/>
          <a:ln/>
        </p:spPr>
        <p:txBody>
          <a:bodyPr wrap="square" rtlCol="0" anchor="ctr"/>
          <a:lstStyle/>
          <a:p>
            <a:pPr indent="0" marL="0">
              <a:buNone/>
            </a:pPr>
            <a:r>
              <a:rPr lang="en-US" sz="1350" b="1" dirty="0">
                <a:solidFill>
                  <a:srgbClr val="1E2233"/>
                </a:solidFill>
                <a:latin typeface="Calibri" pitchFamily="34" charset="0"/>
                <a:ea typeface="Calibri" pitchFamily="34" charset="-122"/>
                <a:cs typeface="Calibri" pitchFamily="34" charset="-120"/>
              </a:rPr>
              <a:t>Remote-state logistics are structurally expensive</a:t>
            </a:r>
            <a:endParaRPr lang="en-US" sz="1350" dirty="0"/>
          </a:p>
        </p:txBody>
      </p:sp>
      <p:sp>
        <p:nvSpPr>
          <p:cNvPr id="29" name="Text 27"/>
          <p:cNvSpPr/>
          <p:nvPr/>
        </p:nvSpPr>
        <p:spPr>
          <a:xfrm>
            <a:off x="1417320" y="4736592"/>
            <a:ext cx="7223760" cy="384048"/>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RR, MA, RO, AM, SE and PI bear the highest shipping burden — all distant from the São Paulo fulfillment hub.</a:t>
            </a:r>
            <a:endParaRPr lang="en-US" sz="1050" dirty="0"/>
          </a:p>
        </p:txBody>
      </p:sp>
      <p:sp>
        <p:nvSpPr>
          <p:cNvPr id="30" name="Shape 28"/>
          <p:cNvSpPr/>
          <p:nvPr/>
        </p:nvSpPr>
        <p:spPr>
          <a:xfrm>
            <a:off x="8778240" y="4590288"/>
            <a:ext cx="2651760" cy="292608"/>
          </a:xfrm>
          <a:prstGeom prst="roundRect">
            <a:avLst>
              <a:gd name="adj" fmla="val 50000"/>
            </a:avLst>
          </a:prstGeom>
          <a:solidFill>
            <a:srgbClr val="1C7293"/>
          </a:solidFill>
          <a:ln/>
        </p:spPr>
      </p:sp>
      <p:sp>
        <p:nvSpPr>
          <p:cNvPr id="31" name="Text 29"/>
          <p:cNvSpPr/>
          <p:nvPr/>
        </p:nvSpPr>
        <p:spPr>
          <a:xfrm>
            <a:off x="8778240" y="4590288"/>
            <a:ext cx="2651760" cy="292608"/>
          </a:xfrm>
          <a:prstGeom prst="rect">
            <a:avLst/>
          </a:prstGeom>
          <a:noFill/>
          <a:ln/>
        </p:spPr>
        <p:txBody>
          <a:bodyPr wrap="square"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EVIDENCE-BASED</a:t>
            </a:r>
            <a:endParaRPr lang="en-US" sz="850" dirty="0"/>
          </a:p>
        </p:txBody>
      </p:sp>
      <p:sp>
        <p:nvSpPr>
          <p:cNvPr id="32" name="Shape 30"/>
          <p:cNvSpPr/>
          <p:nvPr/>
        </p:nvSpPr>
        <p:spPr>
          <a:xfrm>
            <a:off x="548640" y="5276088"/>
            <a:ext cx="11064240" cy="822960"/>
          </a:xfrm>
          <a:prstGeom prst="roundRect">
            <a:avLst>
              <a:gd name="adj" fmla="val 7778"/>
            </a:avLst>
          </a:prstGeom>
          <a:solidFill>
            <a:srgbClr val="F7F8FB"/>
          </a:solidFill>
          <a:ln w="12700">
            <a:solidFill>
              <a:srgbClr val="E6E9F0"/>
            </a:solidFill>
            <a:prstDash val="solid"/>
          </a:ln>
        </p:spPr>
      </p:sp>
      <p:sp>
        <p:nvSpPr>
          <p:cNvPr id="33" name="Shape 31"/>
          <p:cNvSpPr/>
          <p:nvPr/>
        </p:nvSpPr>
        <p:spPr>
          <a:xfrm>
            <a:off x="731520" y="5431536"/>
            <a:ext cx="502920" cy="502920"/>
          </a:xfrm>
          <a:prstGeom prst="ellipse">
            <a:avLst/>
          </a:prstGeom>
          <a:solidFill>
            <a:srgbClr val="1E2761"/>
          </a:solidFill>
          <a:ln/>
        </p:spPr>
      </p:sp>
      <p:sp>
        <p:nvSpPr>
          <p:cNvPr id="34" name="Text 32"/>
          <p:cNvSpPr/>
          <p:nvPr/>
        </p:nvSpPr>
        <p:spPr>
          <a:xfrm>
            <a:off x="731520" y="5431536"/>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5" name="Text 33"/>
          <p:cNvSpPr/>
          <p:nvPr/>
        </p:nvSpPr>
        <p:spPr>
          <a:xfrm>
            <a:off x="1417320" y="5349240"/>
            <a:ext cx="7223760" cy="365760"/>
          </a:xfrm>
          <a:prstGeom prst="rect">
            <a:avLst/>
          </a:prstGeom>
          <a:noFill/>
          <a:ln/>
        </p:spPr>
        <p:txBody>
          <a:bodyPr wrap="square" rtlCol="0" anchor="ctr"/>
          <a:lstStyle/>
          <a:p>
            <a:pPr indent="0" marL="0">
              <a:buNone/>
            </a:pPr>
            <a:r>
              <a:rPr lang="en-US" sz="1350" b="1" dirty="0">
                <a:solidFill>
                  <a:srgbClr val="1E2233"/>
                </a:solidFill>
                <a:latin typeface="Calibri" pitchFamily="34" charset="0"/>
                <a:ea typeface="Calibri" pitchFamily="34" charset="-122"/>
                <a:cs typeface="Calibri" pitchFamily="34" charset="-120"/>
              </a:rPr>
              <a:t>Cancellations erase revenue and sunk fulfillment cost</a:t>
            </a:r>
            <a:endParaRPr lang="en-US" sz="1350" dirty="0"/>
          </a:p>
        </p:txBody>
      </p:sp>
      <p:sp>
        <p:nvSpPr>
          <p:cNvPr id="36" name="Text 34"/>
          <p:cNvSpPr/>
          <p:nvPr/>
        </p:nvSpPr>
        <p:spPr>
          <a:xfrm>
            <a:off x="1417320" y="5678424"/>
            <a:ext cx="7223760" cy="384048"/>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A confirmed leakage channel; exact magnitude not yet quantified in this pass — flagged for deeper analysis.</a:t>
            </a:r>
            <a:endParaRPr lang="en-US" sz="1050" dirty="0"/>
          </a:p>
        </p:txBody>
      </p:sp>
      <p:sp>
        <p:nvSpPr>
          <p:cNvPr id="37" name="Shape 35"/>
          <p:cNvSpPr/>
          <p:nvPr/>
        </p:nvSpPr>
        <p:spPr>
          <a:xfrm>
            <a:off x="8778240" y="5532120"/>
            <a:ext cx="2651760" cy="292608"/>
          </a:xfrm>
          <a:prstGeom prst="roundRect">
            <a:avLst>
              <a:gd name="adj" fmla="val 50000"/>
            </a:avLst>
          </a:prstGeom>
          <a:solidFill>
            <a:srgbClr val="D9614F"/>
          </a:solidFill>
          <a:ln/>
        </p:spPr>
      </p:sp>
      <p:sp>
        <p:nvSpPr>
          <p:cNvPr id="38" name="Text 36"/>
          <p:cNvSpPr/>
          <p:nvPr/>
        </p:nvSpPr>
        <p:spPr>
          <a:xfrm>
            <a:off x="8778240" y="5532120"/>
            <a:ext cx="2651760" cy="292608"/>
          </a:xfrm>
          <a:prstGeom prst="rect">
            <a:avLst/>
          </a:prstGeom>
          <a:noFill/>
          <a:ln/>
        </p:spPr>
        <p:txBody>
          <a:bodyPr wrap="square" rtlCol="0" anchor="ctr"/>
          <a:lstStyle/>
          <a:p>
            <a:pPr algn="ctr" indent="0" marL="0">
              <a:buNone/>
            </a:pPr>
            <a:r>
              <a:rPr lang="en-US" sz="850" b="1" spc="50" kern="0" dirty="0">
                <a:solidFill>
                  <a:srgbClr val="FFFFFF"/>
                </a:solidFill>
                <a:latin typeface="Calibri" pitchFamily="34" charset="0"/>
                <a:ea typeface="Calibri" pitchFamily="34" charset="-122"/>
                <a:cs typeface="Calibri" pitchFamily="34" charset="-120"/>
              </a:rPr>
              <a:t>NEEDS QUANTIFICATION</a:t>
            </a:r>
            <a:endParaRPr lang="en-US" sz="850" dirty="0"/>
          </a:p>
        </p:txBody>
      </p:sp>
      <p:sp>
        <p:nvSpPr>
          <p:cNvPr id="39" name="Text 37"/>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40" name="Text 38"/>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B"/>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Business Recommendations</a:t>
            </a:r>
            <a:endParaRPr lang="en-US" sz="2800" dirty="0"/>
          </a:p>
        </p:txBody>
      </p:sp>
      <p:sp>
        <p:nvSpPr>
          <p:cNvPr id="3" name="Shape 1"/>
          <p:cNvSpPr/>
          <p:nvPr/>
        </p:nvSpPr>
        <p:spPr>
          <a:xfrm>
            <a:off x="548640" y="1508760"/>
            <a:ext cx="3593592" cy="2194560"/>
          </a:xfrm>
          <a:prstGeom prst="roundRect">
            <a:avLst>
              <a:gd name="adj" fmla="val 333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4" name="Text 2"/>
          <p:cNvSpPr/>
          <p:nvPr/>
        </p:nvSpPr>
        <p:spPr>
          <a:xfrm>
            <a:off x="731520" y="1673352"/>
            <a:ext cx="1097280" cy="502920"/>
          </a:xfrm>
          <a:prstGeom prst="rect">
            <a:avLst/>
          </a:prstGeom>
          <a:noFill/>
          <a:ln/>
        </p:spPr>
        <p:txBody>
          <a:bodyPr wrap="square" rtlCol="0" anchor="ctr"/>
          <a:lstStyle/>
          <a:p>
            <a:pPr indent="0" marL="0">
              <a:buNone/>
            </a:pPr>
            <a:r>
              <a:rPr lang="en-US" sz="2200" b="1" dirty="0">
                <a:solidFill>
                  <a:srgbClr val="D9614F"/>
                </a:solidFill>
                <a:latin typeface="Cambria" pitchFamily="34" charset="0"/>
                <a:ea typeface="Cambria" pitchFamily="34" charset="-122"/>
                <a:cs typeface="Cambria" pitchFamily="34" charset="-120"/>
              </a:rPr>
              <a:t>01</a:t>
            </a:r>
            <a:endParaRPr lang="en-US" sz="2200" dirty="0"/>
          </a:p>
        </p:txBody>
      </p:sp>
      <p:sp>
        <p:nvSpPr>
          <p:cNvPr id="5" name="Text 3"/>
          <p:cNvSpPr/>
          <p:nvPr/>
        </p:nvSpPr>
        <p:spPr>
          <a:xfrm>
            <a:off x="731520" y="2167128"/>
            <a:ext cx="3246120" cy="64008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Fix shipping in the worst categories</a:t>
            </a:r>
            <a:endParaRPr lang="en-US" sz="1350" dirty="0"/>
          </a:p>
        </p:txBody>
      </p:sp>
      <p:sp>
        <p:nvSpPr>
          <p:cNvPr id="6" name="Text 4"/>
          <p:cNvSpPr/>
          <p:nvPr/>
        </p:nvSpPr>
        <p:spPr>
          <a:xfrm>
            <a:off x="731520" y="2807208"/>
            <a:ext cx="3246120" cy="822960"/>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Renegotiate carrier rates or adjust pricing/packaging for Home Comfort 2, Flowers, Furniture and other &gt;35%-shipping categories.</a:t>
            </a:r>
            <a:endParaRPr lang="en-US" sz="1050" dirty="0"/>
          </a:p>
        </p:txBody>
      </p:sp>
      <p:sp>
        <p:nvSpPr>
          <p:cNvPr id="7" name="Shape 5"/>
          <p:cNvSpPr/>
          <p:nvPr/>
        </p:nvSpPr>
        <p:spPr>
          <a:xfrm>
            <a:off x="4325112" y="1508760"/>
            <a:ext cx="3593592" cy="2194560"/>
          </a:xfrm>
          <a:prstGeom prst="roundRect">
            <a:avLst>
              <a:gd name="adj" fmla="val 333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8" name="Text 6"/>
          <p:cNvSpPr/>
          <p:nvPr/>
        </p:nvSpPr>
        <p:spPr>
          <a:xfrm>
            <a:off x="4507992" y="1673352"/>
            <a:ext cx="1097280" cy="502920"/>
          </a:xfrm>
          <a:prstGeom prst="rect">
            <a:avLst/>
          </a:prstGeom>
          <a:noFill/>
          <a:ln/>
        </p:spPr>
        <p:txBody>
          <a:bodyPr wrap="square" rtlCol="0" anchor="ctr"/>
          <a:lstStyle/>
          <a:p>
            <a:pPr indent="0" marL="0">
              <a:buNone/>
            </a:pPr>
            <a:r>
              <a:rPr lang="en-US" sz="2200" b="1" dirty="0">
                <a:solidFill>
                  <a:srgbClr val="D9614F"/>
                </a:solidFill>
                <a:latin typeface="Cambria" pitchFamily="34" charset="0"/>
                <a:ea typeface="Cambria" pitchFamily="34" charset="-122"/>
                <a:cs typeface="Cambria" pitchFamily="34" charset="-120"/>
              </a:rPr>
              <a:t>02</a:t>
            </a:r>
            <a:endParaRPr lang="en-US" sz="2200" dirty="0"/>
          </a:p>
        </p:txBody>
      </p:sp>
      <p:sp>
        <p:nvSpPr>
          <p:cNvPr id="9" name="Text 7"/>
          <p:cNvSpPr/>
          <p:nvPr/>
        </p:nvSpPr>
        <p:spPr>
          <a:xfrm>
            <a:off x="4507992" y="2167128"/>
            <a:ext cx="3246120" cy="64008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Regional fulfillment for remote states</a:t>
            </a:r>
            <a:endParaRPr lang="en-US" sz="1350" dirty="0"/>
          </a:p>
        </p:txBody>
      </p:sp>
      <p:sp>
        <p:nvSpPr>
          <p:cNvPr id="10" name="Text 8"/>
          <p:cNvSpPr/>
          <p:nvPr/>
        </p:nvSpPr>
        <p:spPr>
          <a:xfrm>
            <a:off x="4507992" y="2807208"/>
            <a:ext cx="3246120" cy="822960"/>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Evaluate satellite warehouses or 3PL partners near RR, MA, RO, AM, SE, PI to cut distance-driven shipping cost.</a:t>
            </a:r>
            <a:endParaRPr lang="en-US" sz="1050" dirty="0"/>
          </a:p>
        </p:txBody>
      </p:sp>
      <p:sp>
        <p:nvSpPr>
          <p:cNvPr id="11" name="Shape 9"/>
          <p:cNvSpPr/>
          <p:nvPr/>
        </p:nvSpPr>
        <p:spPr>
          <a:xfrm>
            <a:off x="8101584" y="1508760"/>
            <a:ext cx="3593592" cy="2194560"/>
          </a:xfrm>
          <a:prstGeom prst="roundRect">
            <a:avLst>
              <a:gd name="adj" fmla="val 333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12" name="Text 10"/>
          <p:cNvSpPr/>
          <p:nvPr/>
        </p:nvSpPr>
        <p:spPr>
          <a:xfrm>
            <a:off x="8284464" y="1673352"/>
            <a:ext cx="1097280" cy="502920"/>
          </a:xfrm>
          <a:prstGeom prst="rect">
            <a:avLst/>
          </a:prstGeom>
          <a:noFill/>
          <a:ln/>
        </p:spPr>
        <p:txBody>
          <a:bodyPr wrap="square" rtlCol="0" anchor="ctr"/>
          <a:lstStyle/>
          <a:p>
            <a:pPr indent="0" marL="0">
              <a:buNone/>
            </a:pPr>
            <a:r>
              <a:rPr lang="en-US" sz="2200" b="1" dirty="0">
                <a:solidFill>
                  <a:srgbClr val="D9614F"/>
                </a:solidFill>
                <a:latin typeface="Cambria" pitchFamily="34" charset="0"/>
                <a:ea typeface="Cambria" pitchFamily="34" charset="-122"/>
                <a:cs typeface="Cambria" pitchFamily="34" charset="-120"/>
              </a:rPr>
              <a:t>03</a:t>
            </a:r>
            <a:endParaRPr lang="en-US" sz="2200" dirty="0"/>
          </a:p>
        </p:txBody>
      </p:sp>
      <p:sp>
        <p:nvSpPr>
          <p:cNvPr id="13" name="Text 11"/>
          <p:cNvSpPr/>
          <p:nvPr/>
        </p:nvSpPr>
        <p:spPr>
          <a:xfrm>
            <a:off x="8284464" y="2167128"/>
            <a:ext cx="3246120" cy="64008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Replace the flat cost assumption</a:t>
            </a:r>
            <a:endParaRPr lang="en-US" sz="1350" dirty="0"/>
          </a:p>
        </p:txBody>
      </p:sp>
      <p:sp>
        <p:nvSpPr>
          <p:cNvPr id="14" name="Text 12"/>
          <p:cNvSpPr/>
          <p:nvPr/>
        </p:nvSpPr>
        <p:spPr>
          <a:xfrm>
            <a:off x="8284464" y="2807208"/>
            <a:ext cx="3246120" cy="822960"/>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Source category-level actual product cost (COGS) to replace the 65%-of-revenue estimate and validate true margin.</a:t>
            </a:r>
            <a:endParaRPr lang="en-US" sz="1050" dirty="0"/>
          </a:p>
        </p:txBody>
      </p:sp>
      <p:sp>
        <p:nvSpPr>
          <p:cNvPr id="15" name="Shape 13"/>
          <p:cNvSpPr/>
          <p:nvPr/>
        </p:nvSpPr>
        <p:spPr>
          <a:xfrm>
            <a:off x="548640" y="3886200"/>
            <a:ext cx="3593592" cy="2194560"/>
          </a:xfrm>
          <a:prstGeom prst="roundRect">
            <a:avLst>
              <a:gd name="adj" fmla="val 333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16" name="Text 14"/>
          <p:cNvSpPr/>
          <p:nvPr/>
        </p:nvSpPr>
        <p:spPr>
          <a:xfrm>
            <a:off x="731520" y="4050792"/>
            <a:ext cx="1097280" cy="502920"/>
          </a:xfrm>
          <a:prstGeom prst="rect">
            <a:avLst/>
          </a:prstGeom>
          <a:noFill/>
          <a:ln/>
        </p:spPr>
        <p:txBody>
          <a:bodyPr wrap="square" rtlCol="0" anchor="ctr"/>
          <a:lstStyle/>
          <a:p>
            <a:pPr indent="0" marL="0">
              <a:buNone/>
            </a:pPr>
            <a:r>
              <a:rPr lang="en-US" sz="2200" b="1" dirty="0">
                <a:solidFill>
                  <a:srgbClr val="D9614F"/>
                </a:solidFill>
                <a:latin typeface="Cambria" pitchFamily="34" charset="0"/>
                <a:ea typeface="Cambria" pitchFamily="34" charset="-122"/>
                <a:cs typeface="Cambria" pitchFamily="34" charset="-120"/>
              </a:rPr>
              <a:t>04</a:t>
            </a:r>
            <a:endParaRPr lang="en-US" sz="2200" dirty="0"/>
          </a:p>
        </p:txBody>
      </p:sp>
      <p:sp>
        <p:nvSpPr>
          <p:cNvPr id="17" name="Text 15"/>
          <p:cNvSpPr/>
          <p:nvPr/>
        </p:nvSpPr>
        <p:spPr>
          <a:xfrm>
            <a:off x="731520" y="4544568"/>
            <a:ext cx="3246120" cy="64008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Quantify and reduce cancellations</a:t>
            </a:r>
            <a:endParaRPr lang="en-US" sz="1350" dirty="0"/>
          </a:p>
        </p:txBody>
      </p:sp>
      <p:sp>
        <p:nvSpPr>
          <p:cNvPr id="18" name="Text 16"/>
          <p:cNvSpPr/>
          <p:nvPr/>
        </p:nvSpPr>
        <p:spPr>
          <a:xfrm>
            <a:off x="731520" y="5184648"/>
            <a:ext cx="3246120" cy="822960"/>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Build a cancellation root-cause view by category/state; target the highest-leakage segments first.</a:t>
            </a:r>
            <a:endParaRPr lang="en-US" sz="1050" dirty="0"/>
          </a:p>
        </p:txBody>
      </p:sp>
      <p:sp>
        <p:nvSpPr>
          <p:cNvPr id="19" name="Shape 17"/>
          <p:cNvSpPr/>
          <p:nvPr/>
        </p:nvSpPr>
        <p:spPr>
          <a:xfrm>
            <a:off x="4325112" y="3886200"/>
            <a:ext cx="3593592" cy="2194560"/>
          </a:xfrm>
          <a:prstGeom prst="roundRect">
            <a:avLst>
              <a:gd name="adj" fmla="val 333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20" name="Text 18"/>
          <p:cNvSpPr/>
          <p:nvPr/>
        </p:nvSpPr>
        <p:spPr>
          <a:xfrm>
            <a:off x="4507992" y="4050792"/>
            <a:ext cx="1097280" cy="502920"/>
          </a:xfrm>
          <a:prstGeom prst="rect">
            <a:avLst/>
          </a:prstGeom>
          <a:noFill/>
          <a:ln/>
        </p:spPr>
        <p:txBody>
          <a:bodyPr wrap="square" rtlCol="0" anchor="ctr"/>
          <a:lstStyle/>
          <a:p>
            <a:pPr indent="0" marL="0">
              <a:buNone/>
            </a:pPr>
            <a:r>
              <a:rPr lang="en-US" sz="2200" b="1" dirty="0">
                <a:solidFill>
                  <a:srgbClr val="D9614F"/>
                </a:solidFill>
                <a:latin typeface="Cambria" pitchFamily="34" charset="0"/>
                <a:ea typeface="Cambria" pitchFamily="34" charset="-122"/>
                <a:cs typeface="Cambria" pitchFamily="34" charset="-120"/>
              </a:rPr>
              <a:t>05</a:t>
            </a:r>
            <a:endParaRPr lang="en-US" sz="2200" dirty="0"/>
          </a:p>
        </p:txBody>
      </p:sp>
      <p:sp>
        <p:nvSpPr>
          <p:cNvPr id="21" name="Text 19"/>
          <p:cNvSpPr/>
          <p:nvPr/>
        </p:nvSpPr>
        <p:spPr>
          <a:xfrm>
            <a:off x="4507992" y="4544568"/>
            <a:ext cx="3246120" cy="64008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Rebalance the category mix</a:t>
            </a:r>
            <a:endParaRPr lang="en-US" sz="1350" dirty="0"/>
          </a:p>
        </p:txBody>
      </p:sp>
      <p:sp>
        <p:nvSpPr>
          <p:cNvPr id="22" name="Text 20"/>
          <p:cNvSpPr/>
          <p:nvPr/>
        </p:nvSpPr>
        <p:spPr>
          <a:xfrm>
            <a:off x="4507992" y="5184648"/>
            <a:ext cx="3246120" cy="822960"/>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Shift marketing and inventory weight toward categories with healthy shipping ratios; reprice or de-emphasize the rest.</a:t>
            </a:r>
            <a:endParaRPr lang="en-US" sz="1050" dirty="0"/>
          </a:p>
        </p:txBody>
      </p:sp>
      <p:sp>
        <p:nvSpPr>
          <p:cNvPr id="23" name="Shape 21"/>
          <p:cNvSpPr/>
          <p:nvPr/>
        </p:nvSpPr>
        <p:spPr>
          <a:xfrm>
            <a:off x="8101584" y="3886200"/>
            <a:ext cx="3593592" cy="2194560"/>
          </a:xfrm>
          <a:prstGeom prst="roundRect">
            <a:avLst>
              <a:gd name="adj" fmla="val 3333"/>
            </a:avLst>
          </a:prstGeom>
          <a:solidFill>
            <a:srgbClr val="FFFFFF"/>
          </a:solidFill>
          <a:ln w="12700">
            <a:solidFill>
              <a:srgbClr val="E6E9F0"/>
            </a:solidFill>
            <a:prstDash val="solid"/>
          </a:ln>
          <a:effectLst>
            <a:outerShdw sx="100000" sy="100000" kx="0" ky="0" algn="bl" rotWithShape="0" blurRad="76200" dist="25400" dir="5400000">
              <a:srgbClr val="1E2761">
                <a:alpha val="10000"/>
              </a:srgbClr>
            </a:outerShdw>
          </a:effectLst>
        </p:spPr>
      </p:sp>
      <p:sp>
        <p:nvSpPr>
          <p:cNvPr id="24" name="Text 22"/>
          <p:cNvSpPr/>
          <p:nvPr/>
        </p:nvSpPr>
        <p:spPr>
          <a:xfrm>
            <a:off x="8284464" y="4050792"/>
            <a:ext cx="1097280" cy="502920"/>
          </a:xfrm>
          <a:prstGeom prst="rect">
            <a:avLst/>
          </a:prstGeom>
          <a:noFill/>
          <a:ln/>
        </p:spPr>
        <p:txBody>
          <a:bodyPr wrap="square" rtlCol="0" anchor="ctr"/>
          <a:lstStyle/>
          <a:p>
            <a:pPr indent="0" marL="0">
              <a:buNone/>
            </a:pPr>
            <a:r>
              <a:rPr lang="en-US" sz="2200" b="1" dirty="0">
                <a:solidFill>
                  <a:srgbClr val="D9614F"/>
                </a:solidFill>
                <a:latin typeface="Cambria" pitchFamily="34" charset="0"/>
                <a:ea typeface="Cambria" pitchFamily="34" charset="-122"/>
                <a:cs typeface="Cambria" pitchFamily="34" charset="-120"/>
              </a:rPr>
              <a:t>06</a:t>
            </a:r>
            <a:endParaRPr lang="en-US" sz="2200" dirty="0"/>
          </a:p>
        </p:txBody>
      </p:sp>
      <p:sp>
        <p:nvSpPr>
          <p:cNvPr id="25" name="Text 23"/>
          <p:cNvSpPr/>
          <p:nvPr/>
        </p:nvSpPr>
        <p:spPr>
          <a:xfrm>
            <a:off x="8284464" y="4544568"/>
            <a:ext cx="3246120" cy="640080"/>
          </a:xfrm>
          <a:prstGeom prst="rect">
            <a:avLst/>
          </a:prstGeom>
          <a:noFill/>
          <a:ln/>
        </p:spPr>
        <p:txBody>
          <a:bodyPr wrap="square" rtlCol="0" anchor="ctr"/>
          <a:lstStyle/>
          <a:p>
            <a:pPr indent="0" marL="0">
              <a:lnSpc>
                <a:spcPts val="1600"/>
              </a:lnSpc>
              <a:buNone/>
            </a:pPr>
            <a:r>
              <a:rPr lang="en-US" sz="1350" b="1" dirty="0">
                <a:solidFill>
                  <a:srgbClr val="1E2761"/>
                </a:solidFill>
                <a:latin typeface="Calibri" pitchFamily="34" charset="0"/>
                <a:ea typeface="Calibri" pitchFamily="34" charset="-122"/>
                <a:cs typeface="Calibri" pitchFamily="34" charset="-120"/>
              </a:rPr>
              <a:t>Grow repeat-customer share</a:t>
            </a:r>
            <a:endParaRPr lang="en-US" sz="1350" dirty="0"/>
          </a:p>
        </p:txBody>
      </p:sp>
      <p:sp>
        <p:nvSpPr>
          <p:cNvPr id="26" name="Text 24"/>
          <p:cNvSpPr/>
          <p:nvPr/>
        </p:nvSpPr>
        <p:spPr>
          <a:xfrm>
            <a:off x="8284464" y="5184648"/>
            <a:ext cx="3246120" cy="822960"/>
          </a:xfrm>
          <a:prstGeom prst="rect">
            <a:avLst/>
          </a:prstGeom>
          <a:noFill/>
          <a:ln/>
        </p:spPr>
        <p:txBody>
          <a:bodyPr wrap="square" rtlCol="0" anchor="ctr"/>
          <a:lstStyle/>
          <a:p>
            <a:pPr indent="0" marL="0">
              <a:lnSpc>
                <a:spcPts val="1300"/>
              </a:lnSpc>
              <a:buNone/>
            </a:pPr>
            <a:r>
              <a:rPr lang="en-US" sz="1050" dirty="0">
                <a:solidFill>
                  <a:srgbClr val="5B6478"/>
                </a:solidFill>
                <a:latin typeface="Calibri" pitchFamily="34" charset="0"/>
                <a:ea typeface="Calibri" pitchFamily="34" charset="-122"/>
                <a:cs typeface="Calibri" pitchFamily="34" charset="-120"/>
              </a:rPr>
              <a:t>Once segment economics are quantified, invest in retention where repeat customers show a demonstrably better margin profile.</a:t>
            </a:r>
            <a:endParaRPr lang="en-US" sz="1050" dirty="0"/>
          </a:p>
        </p:txBody>
      </p:sp>
      <p:sp>
        <p:nvSpPr>
          <p:cNvPr id="27" name="Text 25"/>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28" name="Text 2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Assumptions &amp; Limitations</a:t>
            </a:r>
            <a:endParaRPr lang="en-US" sz="2800" dirty="0"/>
          </a:p>
        </p:txBody>
      </p:sp>
      <p:sp>
        <p:nvSpPr>
          <p:cNvPr id="3" name="Text 1"/>
          <p:cNvSpPr/>
          <p:nvPr/>
        </p:nvSpPr>
        <p:spPr>
          <a:xfrm>
            <a:off x="548640" y="868680"/>
            <a:ext cx="10515600" cy="36576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Reading this analysis with the right confidence level</a:t>
            </a:r>
            <a:endParaRPr lang="en-US" sz="1300" dirty="0"/>
          </a:p>
        </p:txBody>
      </p:sp>
      <p:sp>
        <p:nvSpPr>
          <p:cNvPr id="4" name="Shape 2"/>
          <p:cNvSpPr/>
          <p:nvPr/>
        </p:nvSpPr>
        <p:spPr>
          <a:xfrm>
            <a:off x="548640" y="1508760"/>
            <a:ext cx="11064240" cy="1051560"/>
          </a:xfrm>
          <a:prstGeom prst="roundRect">
            <a:avLst>
              <a:gd name="adj" fmla="val 6957"/>
            </a:avLst>
          </a:prstGeom>
          <a:solidFill>
            <a:srgbClr val="FBE7E3"/>
          </a:solidFill>
          <a:ln w="12700">
            <a:solidFill>
              <a:srgbClr val="FBE7E3"/>
            </a:solidFill>
            <a:prstDash val="solid"/>
          </a:ln>
        </p:spPr>
      </p:sp>
      <p:sp>
        <p:nvSpPr>
          <p:cNvPr id="5" name="Text 3"/>
          <p:cNvSpPr/>
          <p:nvPr/>
        </p:nvSpPr>
        <p:spPr>
          <a:xfrm>
            <a:off x="868680" y="1645920"/>
            <a:ext cx="2743200" cy="274320"/>
          </a:xfrm>
          <a:prstGeom prst="rect">
            <a:avLst/>
          </a:prstGeom>
          <a:noFill/>
          <a:ln/>
        </p:spPr>
        <p:txBody>
          <a:bodyPr wrap="square" rtlCol="0" anchor="ctr"/>
          <a:lstStyle/>
          <a:p>
            <a:pPr indent="0" marL="0">
              <a:buNone/>
            </a:pPr>
            <a:r>
              <a:rPr lang="en-US" sz="1050" b="1" spc="100" kern="0" dirty="0">
                <a:solidFill>
                  <a:srgbClr val="D9614F"/>
                </a:solidFill>
                <a:latin typeface="Calibri" pitchFamily="34" charset="0"/>
                <a:ea typeface="Calibri" pitchFamily="34" charset="-122"/>
                <a:cs typeface="Calibri" pitchFamily="34" charset="-120"/>
              </a:rPr>
              <a:t>KEY ASSUMPTION</a:t>
            </a:r>
            <a:endParaRPr lang="en-US" sz="1050" dirty="0"/>
          </a:p>
        </p:txBody>
      </p:sp>
      <p:sp>
        <p:nvSpPr>
          <p:cNvPr id="6" name="Text 4"/>
          <p:cNvSpPr/>
          <p:nvPr/>
        </p:nvSpPr>
        <p:spPr>
          <a:xfrm>
            <a:off x="868680" y="1920240"/>
            <a:ext cx="10424160" cy="594360"/>
          </a:xfrm>
          <a:prstGeom prst="rect">
            <a:avLst/>
          </a:prstGeom>
          <a:noFill/>
          <a:ln/>
        </p:spPr>
        <p:txBody>
          <a:bodyPr wrap="square" rtlCol="0" anchor="ctr"/>
          <a:lstStyle/>
          <a:p>
            <a:pPr indent="0" marL="0">
              <a:lnSpc>
                <a:spcPts val="1600"/>
              </a:lnSpc>
              <a:buNone/>
            </a:pPr>
            <a:r>
              <a:rPr lang="en-US" sz="1250" dirty="0">
                <a:solidFill>
                  <a:srgbClr val="1E2233"/>
                </a:solidFill>
                <a:latin typeface="Calibri" pitchFamily="34" charset="0"/>
                <a:ea typeface="Calibri" pitchFamily="34" charset="-122"/>
                <a:cs typeface="Calibri" pitchFamily="34" charset="-120"/>
              </a:rPr>
              <a:t>Product cost is modeled as a flat 65% of revenue for every order. Real COGS varies materially by category (electronics vs. furniture vs. beauty), so absolute Profit and Profit Margin figures are directionally useful, not precisely accurate.</a:t>
            </a:r>
            <a:endParaRPr lang="en-US" sz="1250" dirty="0"/>
          </a:p>
        </p:txBody>
      </p:sp>
      <p:sp>
        <p:nvSpPr>
          <p:cNvPr id="7" name="Shape 5"/>
          <p:cNvSpPr/>
          <p:nvPr/>
        </p:nvSpPr>
        <p:spPr>
          <a:xfrm>
            <a:off x="548640" y="2743200"/>
            <a:ext cx="5394960" cy="3291840"/>
          </a:xfrm>
          <a:prstGeom prst="roundRect">
            <a:avLst>
              <a:gd name="adj" fmla="val 2222"/>
            </a:avLst>
          </a:prstGeom>
          <a:solidFill>
            <a:srgbClr val="E2EFF2"/>
          </a:solidFill>
          <a:ln w="12700">
            <a:solidFill>
              <a:srgbClr val="E2EFF2"/>
            </a:solidFill>
            <a:prstDash val="solid"/>
          </a:ln>
        </p:spPr>
      </p:sp>
      <p:sp>
        <p:nvSpPr>
          <p:cNvPr id="8" name="Text 6"/>
          <p:cNvSpPr/>
          <p:nvPr/>
        </p:nvSpPr>
        <p:spPr>
          <a:xfrm>
            <a:off x="868680" y="2926080"/>
            <a:ext cx="4754880" cy="320040"/>
          </a:xfrm>
          <a:prstGeom prst="rect">
            <a:avLst/>
          </a:prstGeom>
          <a:noFill/>
          <a:ln/>
        </p:spPr>
        <p:txBody>
          <a:bodyPr wrap="square" rtlCol="0" anchor="ctr"/>
          <a:lstStyle/>
          <a:p>
            <a:pPr indent="0" marL="0">
              <a:buNone/>
            </a:pPr>
            <a:r>
              <a:rPr lang="en-US" sz="1100" b="1" spc="50" kern="0" dirty="0">
                <a:solidFill>
                  <a:srgbClr val="1C7293"/>
                </a:solidFill>
                <a:latin typeface="Calibri" pitchFamily="34" charset="0"/>
                <a:ea typeface="Calibri" pitchFamily="34" charset="-122"/>
                <a:cs typeface="Calibri" pitchFamily="34" charset="-120"/>
              </a:rPr>
              <a:t>EVIDENCE-SUPPORTED FINDINGS</a:t>
            </a:r>
            <a:endParaRPr lang="en-US" sz="1100" dirty="0"/>
          </a:p>
        </p:txBody>
      </p:sp>
      <p:sp>
        <p:nvSpPr>
          <p:cNvPr id="9" name="Text 7"/>
          <p:cNvSpPr/>
          <p:nvPr/>
        </p:nvSpPr>
        <p:spPr>
          <a:xfrm>
            <a:off x="868680" y="3337560"/>
            <a:ext cx="4754880" cy="2606040"/>
          </a:xfrm>
          <a:prstGeom prst="rect">
            <a:avLst/>
          </a:prstGeom>
          <a:noFill/>
          <a:ln/>
        </p:spPr>
        <p:txBody>
          <a:bodyPr wrap="square" rtlCol="0" anchor="ctr"/>
          <a:lstStyle/>
          <a:p>
            <a:pPr marL="228600" indent="-228600">
              <a:lnSpc>
                <a:spcPts val="1800"/>
              </a:lnSpc>
              <a:spcAft>
                <a:spcPts val="1000"/>
              </a:spcAft>
              <a:buSzPct val="100000"/>
              <a:buChar char="•"/>
            </a:pPr>
            <a:r>
              <a:rPr lang="en-US" sz="1200" dirty="0">
                <a:solidFill>
                  <a:srgbClr val="1E2233"/>
                </a:solidFill>
                <a:latin typeface="Calibri" pitchFamily="34" charset="0"/>
                <a:ea typeface="Calibri" pitchFamily="34" charset="-122"/>
                <a:cs typeface="Calibri" pitchFamily="34" charset="-120"/>
              </a:rPr>
              <a:t>Revenue, order and customer counts (from raw transaction data)</a:t>
            </a:r>
            <a:endParaRPr lang="en-US" sz="1200" dirty="0"/>
          </a:p>
          <a:p>
            <a:pPr marL="228600" indent="-228600">
              <a:lnSpc>
                <a:spcPts val="1800"/>
              </a:lnSpc>
              <a:spcAft>
                <a:spcPts val="1000"/>
              </a:spcAft>
              <a:buSzPct val="100000"/>
              <a:buChar char="•"/>
            </a:pPr>
            <a:r>
              <a:rPr lang="en-US" sz="1200" dirty="0">
                <a:solidFill>
                  <a:srgbClr val="1E2233"/>
                </a:solidFill>
                <a:latin typeface="Calibri" pitchFamily="34" charset="0"/>
                <a:ea typeface="Calibri" pitchFamily="34" charset="-122"/>
                <a:cs typeface="Calibri" pitchFamily="34" charset="-120"/>
              </a:rPr>
              <a:t>São Paulo's revenue leadership</a:t>
            </a:r>
            <a:endParaRPr lang="en-US" sz="1200" dirty="0"/>
          </a:p>
          <a:p>
            <a:pPr marL="228600" indent="-228600">
              <a:lnSpc>
                <a:spcPts val="1800"/>
              </a:lnSpc>
              <a:spcAft>
                <a:spcPts val="1000"/>
              </a:spcAft>
              <a:buSzPct val="100000"/>
              <a:buChar char="•"/>
            </a:pPr>
            <a:r>
              <a:rPr lang="en-US" sz="1200" dirty="0">
                <a:solidFill>
                  <a:srgbClr val="1E2233"/>
                </a:solidFill>
                <a:latin typeface="Calibri" pitchFamily="34" charset="0"/>
                <a:ea typeface="Calibri" pitchFamily="34" charset="-122"/>
                <a:cs typeface="Calibri" pitchFamily="34" charset="-120"/>
              </a:rPr>
              <a:t>Shipping cost concentration in specific categories and states</a:t>
            </a:r>
            <a:endParaRPr lang="en-US" sz="1200" dirty="0"/>
          </a:p>
          <a:p>
            <a:pPr marL="228600" indent="-228600">
              <a:lnSpc>
                <a:spcPts val="1800"/>
              </a:lnSpc>
              <a:spcAft>
                <a:spcPts val="1000"/>
              </a:spcAft>
              <a:buSzPct val="100000"/>
              <a:buChar char="•"/>
            </a:pPr>
            <a:r>
              <a:rPr lang="en-US" sz="1200" dirty="0">
                <a:solidFill>
                  <a:srgbClr val="1E2233"/>
                </a:solidFill>
                <a:latin typeface="Calibri" pitchFamily="34" charset="0"/>
                <a:ea typeface="Calibri" pitchFamily="34" charset="-122"/>
                <a:cs typeface="Calibri" pitchFamily="34" charset="-120"/>
              </a:rPr>
              <a:t>The direction of the shipping–margin relationship (more shipping cost → less margin)</a:t>
            </a:r>
            <a:endParaRPr lang="en-US" sz="1200" dirty="0"/>
          </a:p>
        </p:txBody>
      </p:sp>
      <p:sp>
        <p:nvSpPr>
          <p:cNvPr id="10" name="Shape 8"/>
          <p:cNvSpPr/>
          <p:nvPr/>
        </p:nvSpPr>
        <p:spPr>
          <a:xfrm>
            <a:off x="6217920" y="2743200"/>
            <a:ext cx="5394960" cy="3291840"/>
          </a:xfrm>
          <a:prstGeom prst="roundRect">
            <a:avLst>
              <a:gd name="adj" fmla="val 2222"/>
            </a:avLst>
          </a:prstGeom>
          <a:solidFill>
            <a:srgbClr val="1E2761"/>
          </a:solidFill>
          <a:ln w="12700">
            <a:solidFill>
              <a:srgbClr val="1E2761"/>
            </a:solidFill>
            <a:prstDash val="solid"/>
          </a:ln>
        </p:spPr>
      </p:sp>
      <p:sp>
        <p:nvSpPr>
          <p:cNvPr id="11" name="Text 9"/>
          <p:cNvSpPr/>
          <p:nvPr/>
        </p:nvSpPr>
        <p:spPr>
          <a:xfrm>
            <a:off x="6537960" y="2926080"/>
            <a:ext cx="4754880" cy="320040"/>
          </a:xfrm>
          <a:prstGeom prst="rect">
            <a:avLst/>
          </a:prstGeom>
          <a:noFill/>
          <a:ln/>
        </p:spPr>
        <p:txBody>
          <a:bodyPr wrap="square" rtlCol="0" anchor="ctr"/>
          <a:lstStyle/>
          <a:p>
            <a:pPr indent="0" marL="0">
              <a:buNone/>
            </a:pPr>
            <a:r>
              <a:rPr lang="en-US" sz="1100" b="1" spc="50" kern="0" dirty="0">
                <a:solidFill>
                  <a:srgbClr val="D9614F"/>
                </a:solidFill>
                <a:latin typeface="Calibri" pitchFamily="34" charset="0"/>
                <a:ea typeface="Calibri" pitchFamily="34" charset="-122"/>
                <a:cs typeface="Calibri" pitchFamily="34" charset="-120"/>
              </a:rPr>
              <a:t>ASSUMPTION-DEPENDENT FINDINGS</a:t>
            </a:r>
            <a:endParaRPr lang="en-US" sz="1100" dirty="0"/>
          </a:p>
        </p:txBody>
      </p:sp>
      <p:sp>
        <p:nvSpPr>
          <p:cNvPr id="12" name="Text 10"/>
          <p:cNvSpPr/>
          <p:nvPr/>
        </p:nvSpPr>
        <p:spPr>
          <a:xfrm>
            <a:off x="6537960" y="3337560"/>
            <a:ext cx="4754880" cy="2606040"/>
          </a:xfrm>
          <a:prstGeom prst="rect">
            <a:avLst/>
          </a:prstGeom>
          <a:noFill/>
          <a:ln/>
        </p:spPr>
        <p:txBody>
          <a:bodyPr wrap="square" rtlCol="0" anchor="ctr"/>
          <a:lstStyle/>
          <a:p>
            <a:pPr marL="228600" indent="-228600">
              <a:lnSpc>
                <a:spcPts val="18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The exact Profit and Profit Margin values (R$ 2.44M / 18.45%)</a:t>
            </a:r>
            <a:endParaRPr lang="en-US" sz="1200" dirty="0"/>
          </a:p>
          <a:p>
            <a:pPr marL="228600" indent="-228600">
              <a:lnSpc>
                <a:spcPts val="18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The precise strength of the −0.994 shipping–margin correlation — partly mechanical given the fixed cost ratio</a:t>
            </a:r>
            <a:endParaRPr lang="en-US" sz="1200" dirty="0"/>
          </a:p>
          <a:p>
            <a:pPr marL="228600" indent="-228600">
              <a:lnSpc>
                <a:spcPts val="18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Any ranking of categories by absolute profit rather than by revenue or shipping share</a:t>
            </a:r>
            <a:endParaRPr lang="en-US" sz="1200" dirty="0"/>
          </a:p>
        </p:txBody>
      </p:sp>
      <p:sp>
        <p:nvSpPr>
          <p:cNvPr id="13" name="Text 11"/>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5B647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14" name="Text 12"/>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A4D"/>
        </a:solidFill>
      </p:bgPr>
    </p:bg>
    <p:spTree>
      <p:nvGrpSpPr>
        <p:cNvPr id="1" name=""/>
        <p:cNvGrpSpPr/>
        <p:nvPr/>
      </p:nvGrpSpPr>
      <p:grpSpPr>
        <a:xfrm>
          <a:off x="0" y="0"/>
          <a:ext cx="0" cy="0"/>
          <a:chOff x="0" y="0"/>
          <a:chExt cx="0" cy="0"/>
        </a:xfrm>
      </p:grpSpPr>
      <p:sp>
        <p:nvSpPr>
          <p:cNvPr id="2" name="Shape 0"/>
          <p:cNvSpPr/>
          <p:nvPr/>
        </p:nvSpPr>
        <p:spPr>
          <a:xfrm>
            <a:off x="-2286000" y="3931920"/>
            <a:ext cx="5486400" cy="5486400"/>
          </a:xfrm>
          <a:prstGeom prst="ellipse">
            <a:avLst/>
          </a:prstGeom>
          <a:solidFill>
            <a:srgbClr val="1E2761"/>
          </a:solidFill>
          <a:ln/>
        </p:spPr>
      </p:sp>
      <p:sp>
        <p:nvSpPr>
          <p:cNvPr id="3" name="Text 1"/>
          <p:cNvSpPr/>
          <p:nvPr/>
        </p:nvSpPr>
        <p:spPr>
          <a:xfrm>
            <a:off x="640080" y="640080"/>
            <a:ext cx="5486400" cy="365760"/>
          </a:xfrm>
          <a:prstGeom prst="rect">
            <a:avLst/>
          </a:prstGeom>
          <a:noFill/>
          <a:ln/>
        </p:spPr>
        <p:txBody>
          <a:bodyPr wrap="square" rtlCol="0" anchor="ctr"/>
          <a:lstStyle/>
          <a:p>
            <a:pPr indent="0" marL="0">
              <a:buNone/>
            </a:pPr>
            <a:r>
              <a:rPr lang="en-US" sz="1300" spc="200" kern="0" dirty="0">
                <a:solidFill>
                  <a:srgbClr val="CADCFC"/>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94360" y="1051560"/>
            <a:ext cx="9601200" cy="1463040"/>
          </a:xfrm>
          <a:prstGeom prst="rect">
            <a:avLst/>
          </a:prstGeom>
          <a:noFill/>
          <a:ln/>
        </p:spPr>
        <p:txBody>
          <a:bodyPr wrap="square" rtlCol="0" anchor="ctr"/>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Growth is working.</a:t>
            </a:r>
            <a:endParaRPr lang="en-US" sz="3200" dirty="0"/>
          </a:p>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Margin discipline is the next chapter.</a:t>
            </a:r>
            <a:endParaRPr lang="en-US" sz="3200" dirty="0"/>
          </a:p>
        </p:txBody>
      </p:sp>
      <p:sp>
        <p:nvSpPr>
          <p:cNvPr id="5" name="Text 3"/>
          <p:cNvSpPr/>
          <p:nvPr/>
        </p:nvSpPr>
        <p:spPr>
          <a:xfrm>
            <a:off x="640080" y="2606040"/>
            <a:ext cx="7680960" cy="1005840"/>
          </a:xfrm>
          <a:prstGeom prst="rect">
            <a:avLst/>
          </a:prstGeom>
          <a:noFill/>
          <a:ln/>
        </p:spPr>
        <p:txBody>
          <a:bodyPr wrap="square" rtlCol="0" anchor="ctr"/>
          <a:lstStyle/>
          <a:p>
            <a:pPr indent="0" marL="0">
              <a:lnSpc>
                <a:spcPts val="2000"/>
              </a:lnSpc>
              <a:buNone/>
            </a:pPr>
            <a:r>
              <a:rPr lang="en-US" sz="1450" i="1" dirty="0">
                <a:solidFill>
                  <a:srgbClr val="CADCFC"/>
                </a:solidFill>
                <a:latin typeface="Calibri" pitchFamily="34" charset="0"/>
                <a:ea typeface="Calibri" pitchFamily="34" charset="-122"/>
                <a:cs typeface="Calibri" pitchFamily="34" charset="-120"/>
              </a:rPr>
              <a:t>Olist's revenue engine is healthy and broad-based. The profit gap traces back to a small, addressable set of causes: shipping-heavy categories, remote-state logistics cost, and an unvalidated flat cost assumption. None of these require slowing growth to fix.</a:t>
            </a:r>
            <a:endParaRPr lang="en-US" sz="1450" dirty="0"/>
          </a:p>
        </p:txBody>
      </p:sp>
      <p:sp>
        <p:nvSpPr>
          <p:cNvPr id="6" name="Text 4"/>
          <p:cNvSpPr/>
          <p:nvPr/>
        </p:nvSpPr>
        <p:spPr>
          <a:xfrm>
            <a:off x="640080" y="3794760"/>
            <a:ext cx="5486400" cy="320040"/>
          </a:xfrm>
          <a:prstGeom prst="rect">
            <a:avLst/>
          </a:prstGeom>
          <a:noFill/>
          <a:ln/>
        </p:spPr>
        <p:txBody>
          <a:bodyPr wrap="square" rtlCol="0" anchor="ctr"/>
          <a:lstStyle/>
          <a:p>
            <a:pPr indent="0" marL="0">
              <a:buNone/>
            </a:pPr>
            <a:r>
              <a:rPr lang="en-US" sz="1100" b="1" spc="100" kern="0" dirty="0">
                <a:solidFill>
                  <a:srgbClr val="D9614F"/>
                </a:solidFill>
                <a:latin typeface="Calibri" pitchFamily="34" charset="0"/>
                <a:ea typeface="Calibri" pitchFamily="34" charset="-122"/>
                <a:cs typeface="Calibri" pitchFamily="34" charset="-120"/>
              </a:rPr>
              <a:t>NEXT STEPS</a:t>
            </a:r>
            <a:endParaRPr lang="en-US" sz="1100" dirty="0"/>
          </a:p>
        </p:txBody>
      </p:sp>
      <p:sp>
        <p:nvSpPr>
          <p:cNvPr id="7" name="Text 5"/>
          <p:cNvSpPr/>
          <p:nvPr/>
        </p:nvSpPr>
        <p:spPr>
          <a:xfrm>
            <a:off x="640080" y="4160520"/>
            <a:ext cx="7498080" cy="2103120"/>
          </a:xfrm>
          <a:prstGeom prst="rect">
            <a:avLst/>
          </a:prstGeom>
          <a:noFill/>
          <a:ln/>
        </p:spPr>
        <p:txBody>
          <a:bodyPr wrap="square" rtlCol="0" anchor="ctr"/>
          <a:lstStyle/>
          <a:p>
            <a:pPr marL="228600" indent="-228600">
              <a:lnSpc>
                <a:spcPts val="2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Replace the flat 65% cost assumption with category-level actual COGS</a:t>
            </a:r>
            <a:endParaRPr lang="en-US" sz="1350" dirty="0"/>
          </a:p>
          <a:p>
            <a:pPr marL="228600" indent="-228600">
              <a:lnSpc>
                <a:spcPts val="2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Quantify cancellation rate and its revenue/profit impact by category and state</a:t>
            </a:r>
            <a:endParaRPr lang="en-US" sz="1350" dirty="0"/>
          </a:p>
          <a:p>
            <a:pPr marL="228600" indent="-228600">
              <a:lnSpc>
                <a:spcPts val="2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Pilot regional fulfillment for the six highest shipping-burden states</a:t>
            </a:r>
            <a:endParaRPr lang="en-US" sz="1350" dirty="0"/>
          </a:p>
          <a:p>
            <a:pPr marL="228600" indent="-228600">
              <a:lnSpc>
                <a:spcPts val="20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Re-run this analysis with real cost data to confirm the magnitude of every figure above</a:t>
            </a:r>
            <a:endParaRPr lang="en-US" sz="1350" dirty="0"/>
          </a:p>
        </p:txBody>
      </p:sp>
      <p:sp>
        <p:nvSpPr>
          <p:cNvPr id="8" name="Shape 6"/>
          <p:cNvSpPr/>
          <p:nvPr/>
        </p:nvSpPr>
        <p:spPr>
          <a:xfrm>
            <a:off x="8778240" y="1280160"/>
            <a:ext cx="2834640" cy="1417320"/>
          </a:xfrm>
          <a:prstGeom prst="roundRect">
            <a:avLst>
              <a:gd name="adj" fmla="val 5161"/>
            </a:avLst>
          </a:prstGeom>
          <a:solidFill>
            <a:srgbClr val="1E2761"/>
          </a:solidFill>
          <a:ln w="12700">
            <a:solidFill>
              <a:srgbClr val="3A4380"/>
            </a:solidFill>
            <a:prstDash val="solid"/>
          </a:ln>
        </p:spPr>
      </p:sp>
      <p:sp>
        <p:nvSpPr>
          <p:cNvPr id="9" name="Text 7"/>
          <p:cNvSpPr/>
          <p:nvPr/>
        </p:nvSpPr>
        <p:spPr>
          <a:xfrm>
            <a:off x="8961120" y="1389888"/>
            <a:ext cx="2468880" cy="548640"/>
          </a:xfrm>
          <a:prstGeom prst="rect">
            <a:avLst/>
          </a:prstGeom>
          <a:noFill/>
          <a:ln/>
        </p:spPr>
        <p:txBody>
          <a:bodyPr wrap="square" rtlCol="0" anchor="ctr"/>
          <a:lstStyle/>
          <a:p>
            <a:pPr indent="0" marL="0">
              <a:buNone/>
            </a:pPr>
            <a:r>
              <a:rPr lang="en-US" sz="2400" b="1" dirty="0">
                <a:solidFill>
                  <a:srgbClr val="D9614F"/>
                </a:solidFill>
                <a:latin typeface="Cambria" pitchFamily="34" charset="0"/>
                <a:ea typeface="Cambria" pitchFamily="34" charset="-122"/>
                <a:cs typeface="Cambria" pitchFamily="34" charset="-120"/>
              </a:rPr>
              <a:t>35%</a:t>
            </a:r>
            <a:endParaRPr lang="en-US" sz="2400" dirty="0"/>
          </a:p>
        </p:txBody>
      </p:sp>
      <p:sp>
        <p:nvSpPr>
          <p:cNvPr id="10" name="Text 8"/>
          <p:cNvSpPr/>
          <p:nvPr/>
        </p:nvSpPr>
        <p:spPr>
          <a:xfrm>
            <a:off x="8961120" y="1965960"/>
            <a:ext cx="246888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Margin ceiling</a:t>
            </a:r>
            <a:endParaRPr lang="en-US" sz="1050" dirty="0"/>
          </a:p>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under current model</a:t>
            </a:r>
            <a:endParaRPr lang="en-US" sz="1050" dirty="0"/>
          </a:p>
        </p:txBody>
      </p:sp>
      <p:sp>
        <p:nvSpPr>
          <p:cNvPr id="11" name="Shape 9"/>
          <p:cNvSpPr/>
          <p:nvPr/>
        </p:nvSpPr>
        <p:spPr>
          <a:xfrm>
            <a:off x="8778240" y="2971800"/>
            <a:ext cx="2834640" cy="1417320"/>
          </a:xfrm>
          <a:prstGeom prst="roundRect">
            <a:avLst>
              <a:gd name="adj" fmla="val 5161"/>
            </a:avLst>
          </a:prstGeom>
          <a:solidFill>
            <a:srgbClr val="1E2761"/>
          </a:solidFill>
          <a:ln w="12700">
            <a:solidFill>
              <a:srgbClr val="3A4380"/>
            </a:solidFill>
            <a:prstDash val="solid"/>
          </a:ln>
        </p:spPr>
      </p:sp>
      <p:sp>
        <p:nvSpPr>
          <p:cNvPr id="12" name="Text 10"/>
          <p:cNvSpPr/>
          <p:nvPr/>
        </p:nvSpPr>
        <p:spPr>
          <a:xfrm>
            <a:off x="8961120" y="3081528"/>
            <a:ext cx="2468880" cy="548640"/>
          </a:xfrm>
          <a:prstGeom prst="rect">
            <a:avLst/>
          </a:prstGeom>
          <a:noFill/>
          <a:ln/>
        </p:spPr>
        <p:txBody>
          <a:bodyPr wrap="square" rtlCol="0" anchor="ctr"/>
          <a:lstStyle/>
          <a:p>
            <a:pPr indent="0" marL="0">
              <a:buNone/>
            </a:pPr>
            <a:r>
              <a:rPr lang="en-US" sz="2400" b="1" dirty="0">
                <a:solidFill>
                  <a:srgbClr val="D9614F"/>
                </a:solidFill>
                <a:latin typeface="Cambria" pitchFamily="34" charset="0"/>
                <a:ea typeface="Cambria" pitchFamily="34" charset="-122"/>
                <a:cs typeface="Cambria" pitchFamily="34" charset="-120"/>
              </a:rPr>
              <a:t>−0.994</a:t>
            </a:r>
            <a:endParaRPr lang="en-US" sz="2400" dirty="0"/>
          </a:p>
        </p:txBody>
      </p:sp>
      <p:sp>
        <p:nvSpPr>
          <p:cNvPr id="13" name="Text 11"/>
          <p:cNvSpPr/>
          <p:nvPr/>
        </p:nvSpPr>
        <p:spPr>
          <a:xfrm>
            <a:off x="8961120" y="3657600"/>
            <a:ext cx="246888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Shipping–margin</a:t>
            </a:r>
            <a:endParaRPr lang="en-US" sz="1050" dirty="0"/>
          </a:p>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correlation</a:t>
            </a:r>
            <a:endParaRPr lang="en-US" sz="1050" dirty="0"/>
          </a:p>
        </p:txBody>
      </p:sp>
      <p:sp>
        <p:nvSpPr>
          <p:cNvPr id="14" name="Shape 12"/>
          <p:cNvSpPr/>
          <p:nvPr/>
        </p:nvSpPr>
        <p:spPr>
          <a:xfrm>
            <a:off x="8778240" y="4663440"/>
            <a:ext cx="2834640" cy="1417320"/>
          </a:xfrm>
          <a:prstGeom prst="roundRect">
            <a:avLst>
              <a:gd name="adj" fmla="val 5161"/>
            </a:avLst>
          </a:prstGeom>
          <a:solidFill>
            <a:srgbClr val="1E2761"/>
          </a:solidFill>
          <a:ln w="12700">
            <a:solidFill>
              <a:srgbClr val="3A4380"/>
            </a:solidFill>
            <a:prstDash val="solid"/>
          </a:ln>
        </p:spPr>
      </p:sp>
      <p:sp>
        <p:nvSpPr>
          <p:cNvPr id="15" name="Text 13"/>
          <p:cNvSpPr/>
          <p:nvPr/>
        </p:nvSpPr>
        <p:spPr>
          <a:xfrm>
            <a:off x="8961120" y="4773168"/>
            <a:ext cx="2468880" cy="548640"/>
          </a:xfrm>
          <a:prstGeom prst="rect">
            <a:avLst/>
          </a:prstGeom>
          <a:noFill/>
          <a:ln/>
        </p:spPr>
        <p:txBody>
          <a:bodyPr wrap="square" rtlCol="0" anchor="ctr"/>
          <a:lstStyle/>
          <a:p>
            <a:pPr indent="0" marL="0">
              <a:buNone/>
            </a:pPr>
            <a:r>
              <a:rPr lang="en-US" sz="2400" b="1" dirty="0">
                <a:solidFill>
                  <a:srgbClr val="D9614F"/>
                </a:solidFill>
                <a:latin typeface="Cambria" pitchFamily="34" charset="0"/>
                <a:ea typeface="Cambria" pitchFamily="34" charset="-122"/>
                <a:cs typeface="Cambria" pitchFamily="34" charset="-120"/>
              </a:rPr>
              <a:t>6</a:t>
            </a:r>
            <a:endParaRPr lang="en-US" sz="2400" dirty="0"/>
          </a:p>
        </p:txBody>
      </p:sp>
      <p:sp>
        <p:nvSpPr>
          <p:cNvPr id="16" name="Text 14"/>
          <p:cNvSpPr/>
          <p:nvPr/>
        </p:nvSpPr>
        <p:spPr>
          <a:xfrm>
            <a:off x="8961120" y="5349240"/>
            <a:ext cx="246888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Root causes</a:t>
            </a:r>
            <a:endParaRPr lang="en-US" sz="1050" dirty="0"/>
          </a:p>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ranked</a:t>
            </a:r>
            <a:endParaRPr lang="en-US" sz="1050" dirty="0"/>
          </a:p>
        </p:txBody>
      </p:sp>
      <p:sp>
        <p:nvSpPr>
          <p:cNvPr id="17" name="Text 15"/>
          <p:cNvSpPr/>
          <p:nvPr/>
        </p:nvSpPr>
        <p:spPr>
          <a:xfrm>
            <a:off x="457200" y="6473952"/>
            <a:ext cx="8229600" cy="274320"/>
          </a:xfrm>
          <a:prstGeom prst="rect">
            <a:avLst/>
          </a:prstGeom>
          <a:noFill/>
          <a:ln/>
        </p:spPr>
        <p:txBody>
          <a:bodyPr wrap="square" rtlCol="0" anchor="ctr"/>
          <a:lstStyle/>
          <a:p>
            <a:pPr indent="0" marL="0">
              <a:buNone/>
            </a:pPr>
            <a:r>
              <a:rPr lang="en-US" sz="900" i="1" dirty="0">
                <a:solidFill>
                  <a:srgbClr val="8A93B8"/>
                </a:solidFill>
                <a:latin typeface="Calibri" pitchFamily="34" charset="0"/>
                <a:ea typeface="Calibri" pitchFamily="34" charset="-122"/>
                <a:cs typeface="Calibri" pitchFamily="34" charset="-120"/>
              </a:rPr>
              <a:t>Sales Growth vs. Profit Pressure  |  Olist E-commerce Root Cause Analysis</a:t>
            </a:r>
            <a:endParaRPr lang="en-US" sz="900" dirty="0"/>
          </a:p>
        </p:txBody>
      </p:sp>
      <p:sp>
        <p:nvSpPr>
          <p:cNvPr id="18" name="Text 16"/>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8A93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2026-08-02T09:23:11Z</dcterms:created>
  <dcterms:modified xsi:type="dcterms:W3CDTF">2026-08-02T09:23:11Z</dcterms:modified>
</cp:coreProperties>
</file>